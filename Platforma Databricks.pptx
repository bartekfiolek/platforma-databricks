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64" r:id="rId6"/>
    <p:sldId id="259" r:id="rId7"/>
    <p:sldId id="260" r:id="rId8"/>
    <p:sldId id="261" r:id="rId9"/>
    <p:sldId id="262" r:id="rId10"/>
    <p:sldId id="265" r:id="rId11"/>
    <p:sldId id="280" r:id="rId12"/>
    <p:sldId id="266" r:id="rId13"/>
    <p:sldId id="267" r:id="rId14"/>
    <p:sldId id="270" r:id="rId15"/>
    <p:sldId id="282" r:id="rId16"/>
    <p:sldId id="271" r:id="rId17"/>
    <p:sldId id="283" r:id="rId18"/>
    <p:sldId id="272" r:id="rId19"/>
    <p:sldId id="273" r:id="rId20"/>
    <p:sldId id="284" r:id="rId21"/>
    <p:sldId id="274" r:id="rId2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C53B21-8E79-98A2-3533-1A6B9BA3E4F4}" v="10" dt="2026-05-09T12:56:40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9175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738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34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303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180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4797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083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5530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90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4508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038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AA868-8872-43E4-8C98-D34DABD1FD38}" type="datetimeFigureOut">
              <a:rPr lang="pl-PL" smtClean="0"/>
              <a:t>09.05.2026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2663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bricks.com/blog/what-is-unified-analytics" TargetMode="External"/><Relationship Id="rId2" Type="http://schemas.openxmlformats.org/officeDocument/2006/relationships/hyperlink" Target="https://www.databricks.com/blog/what-is-data-lakehous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earn.microsoft.com/pl-pl/azure/databricks/repos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atabricks.com/aws/en/getting-started/high-level-architecture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databricks.com/signup?dbx_source=www&amp;itm_data=dbx-web-nav&amp;l=en-EN&amp;itm_source=www&amp;itm_category=home&amp;itm_page=home&amp;itm_location=nav&amp;itm_component=menu-area&amp;itm_offer=signup&#8203;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atabricks.com/aws/en/getting-started/concept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atabricks.com/aws/en/notebooks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atabricks.com/aws/en/spark/faq" TargetMode="External"/><Relationship Id="rId2" Type="http://schemas.openxmlformats.org/officeDocument/2006/relationships/hyperlink" Target="https://spark.apache.org/docs/latest/cluster-overview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atabricks.com/aws/en/pyspark/basics&#8203;" TargetMode="External"/><Relationship Id="rId2" Type="http://schemas.openxmlformats.org/officeDocument/2006/relationships/hyperlink" Target="https://docs.databricks.com/aws/en/getting-started/dataframes#run-an-arbitrary-sql-query-using-sparksql-function%E2%80%8B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databricks.com/aws/en/pyspark/basic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atabricks.com/aws/en/sql/language-manual/functions/read_files" TargetMode="External"/><Relationship Id="rId2" Type="http://schemas.openxmlformats.org/officeDocument/2006/relationships/hyperlink" Target="https://www.databricks.com/blog/what-is-spark-sq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atabricks.com/aws/en/udf/&#8203;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databricks.com/aws/en/sql/language-manual/delta-optimize" TargetMode="External"/><Relationship Id="rId3" Type="http://schemas.openxmlformats.org/officeDocument/2006/relationships/hyperlink" Target="https://www.databricks.com/blog/what-are-acid-transactions" TargetMode="External"/><Relationship Id="rId7" Type="http://schemas.openxmlformats.org/officeDocument/2006/relationships/hyperlink" Target="https://docs.databricks.com/aws/en/data-engineering/schema-evolution&#8203;" TargetMode="External"/><Relationship Id="rId2" Type="http://schemas.openxmlformats.org/officeDocument/2006/relationships/hyperlink" Target="https://docs.databricks.com/aws/en/delta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databricks.com/aws/en/tables/schema-enforcement" TargetMode="External"/><Relationship Id="rId5" Type="http://schemas.openxmlformats.org/officeDocument/2006/relationships/hyperlink" Target="https://docs.databricks.com/aws/en/sql/language-manual/delta-vacuum" TargetMode="External"/><Relationship Id="rId4" Type="http://schemas.openxmlformats.org/officeDocument/2006/relationships/hyperlink" Target="https://docs.databricks.com/aws/en/delta/history" TargetMode="External"/><Relationship Id="rId9" Type="http://schemas.openxmlformats.org/officeDocument/2006/relationships/hyperlink" Target="https://docs.databricks.com/aws/en/delta/clustering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atabricks.com/aws/en/jobs/scheduled" TargetMode="External"/><Relationship Id="rId2" Type="http://schemas.openxmlformats.org/officeDocument/2006/relationships/hyperlink" Target="https://docs.databricks.com/aws/en/jobs/&#8203;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databricks.com/aws/en/jobs/parameters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atabricks.com/aws/en/sql/language-manual/sql-ref-syntax-ddl-create-streaming-table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atabricks.com/blog/what-is-medallion-architecture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atabricks.com/blog/what-are-data-pipelines%E2%80%8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atabricks.com/aws/en/sql/user/alerts/" TargetMode="External"/><Relationship Id="rId2" Type="http://schemas.openxmlformats.org/officeDocument/2006/relationships/hyperlink" Target="https://docs.databricks.com/aws/en/dashboards/manage/%E2%80%8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/>
              <a:t>Platforma Databricks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Bartosz Fijałkowski, UAM, 2026</a:t>
            </a: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832C2-1915-5917-D69B-238D72F7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Warunki</a:t>
            </a:r>
            <a:r>
              <a:rPr lang="en-US"/>
              <a:t> </a:t>
            </a:r>
            <a:r>
              <a:rPr lang="en-US" err="1"/>
              <a:t>zaliczenia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55BA3-BA41-1023-8C8B-C3AE78008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Wymagana</a:t>
            </a:r>
            <a:r>
              <a:rPr lang="en-US"/>
              <a:t> jest </a:t>
            </a:r>
            <a:r>
              <a:rPr lang="en-US" err="1"/>
              <a:t>wiedza</a:t>
            </a:r>
            <a:r>
              <a:rPr lang="en-US"/>
              <a:t> z </a:t>
            </a:r>
            <a:r>
              <a:rPr lang="en-US" err="1"/>
              <a:t>podlinkowanej</a:t>
            </a:r>
            <a:r>
              <a:rPr lang="en-US"/>
              <a:t> </a:t>
            </a:r>
            <a:r>
              <a:rPr lang="en-US" err="1"/>
              <a:t>dokumentacji</a:t>
            </a:r>
            <a:r>
              <a:rPr lang="en-US"/>
              <a:t> Databricks.</a:t>
            </a:r>
          </a:p>
          <a:p>
            <a:r>
              <a:rPr lang="en-US"/>
              <a:t>Na </a:t>
            </a:r>
            <a:r>
              <a:rPr lang="en-US" err="1"/>
              <a:t>zaliczenie</a:t>
            </a:r>
            <a:r>
              <a:rPr lang="en-US"/>
              <a:t>: </a:t>
            </a:r>
            <a:r>
              <a:rPr lang="en-US" err="1">
                <a:ea typeface="+mn-lt"/>
                <a:cs typeface="+mn-lt"/>
              </a:rPr>
              <a:t>Budowa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pipeline’u</a:t>
            </a:r>
            <a:r>
              <a:rPr lang="en-US">
                <a:ea typeface="+mn-lt"/>
                <a:cs typeface="+mn-lt"/>
              </a:rPr>
              <a:t> Bronze → Silver → Gold </a:t>
            </a:r>
            <a:r>
              <a:rPr lang="en-US" err="1">
                <a:ea typeface="+mn-lt"/>
                <a:cs typeface="+mn-lt"/>
              </a:rPr>
              <a:t>oraz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dashboardów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prezentujących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dane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Wykorzystanie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każdej</a:t>
            </a:r>
            <a:r>
              <a:rPr lang="en-US">
                <a:ea typeface="+mn-lt"/>
                <a:cs typeface="+mn-lt"/>
              </a:rPr>
              <a:t> z </a:t>
            </a:r>
            <a:r>
              <a:rPr lang="en-US" err="1">
                <a:ea typeface="+mn-lt"/>
                <a:cs typeface="+mn-lt"/>
              </a:rPr>
              <a:t>umiejętności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poznanych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zajęciach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r>
              <a:rPr lang="en-US" err="1"/>
              <a:t>Zaliczamy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ostatnich</a:t>
            </a:r>
            <a:r>
              <a:rPr lang="en-US"/>
              <a:t> </a:t>
            </a:r>
            <a:r>
              <a:rPr lang="en-US" err="1"/>
              <a:t>zajęciach</a:t>
            </a:r>
            <a:r>
              <a:rPr lang="en-US"/>
              <a:t> </a:t>
            </a:r>
            <a:r>
              <a:rPr lang="en-US" err="1"/>
              <a:t>przygotowując</a:t>
            </a:r>
            <a:r>
              <a:rPr lang="en-US"/>
              <a:t> </a:t>
            </a:r>
            <a:r>
              <a:rPr lang="en-US" err="1"/>
              <a:t>projekt</a:t>
            </a:r>
            <a:r>
              <a:rPr lang="en-US"/>
              <a:t> w </a:t>
            </a:r>
            <a:r>
              <a:rPr lang="en-US" err="1"/>
              <a:t>grupach</a:t>
            </a:r>
            <a:r>
              <a:rPr lang="en-US"/>
              <a:t> 3-osobowych.</a:t>
            </a:r>
          </a:p>
          <a:p>
            <a:r>
              <a:rPr lang="en-US" err="1"/>
              <a:t>Ocena</a:t>
            </a:r>
            <a:r>
              <a:rPr lang="en-US"/>
              <a:t> </a:t>
            </a:r>
            <a:r>
              <a:rPr lang="en-US" err="1"/>
              <a:t>wspólna</a:t>
            </a:r>
            <a:r>
              <a:rPr lang="en-US"/>
              <a:t> za </a:t>
            </a:r>
            <a:r>
              <a:rPr lang="en-US" err="1"/>
              <a:t>złożoność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jakość</a:t>
            </a:r>
            <a:r>
              <a:rPr lang="en-US"/>
              <a:t> </a:t>
            </a:r>
            <a:r>
              <a:rPr lang="en-US" err="1"/>
              <a:t>projektu</a:t>
            </a:r>
            <a:r>
              <a:rPr lang="en-US"/>
              <a:t>, </a:t>
            </a:r>
            <a:r>
              <a:rPr lang="en-US" err="1"/>
              <a:t>liczbę</a:t>
            </a:r>
            <a:r>
              <a:rPr lang="en-US"/>
              <a:t> </a:t>
            </a:r>
            <a:r>
              <a:rPr lang="en-US" err="1"/>
              <a:t>pokrytych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zajęciach</a:t>
            </a:r>
            <a:r>
              <a:rPr lang="en-US"/>
              <a:t> </a:t>
            </a:r>
            <a:r>
              <a:rPr lang="en-US" err="1"/>
              <a:t>wątków</a:t>
            </a:r>
            <a:r>
              <a:rPr lang="en-US"/>
              <a:t>, </a:t>
            </a:r>
            <a:r>
              <a:rPr lang="en-US" err="1"/>
              <a:t>odpowiedź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pytania</a:t>
            </a:r>
            <a:r>
              <a:rPr lang="en-US"/>
              <a:t> </a:t>
            </a:r>
            <a:r>
              <a:rPr lang="en-US" err="1"/>
              <a:t>prowadzącego</a:t>
            </a:r>
            <a:r>
              <a:rPr lang="en-US"/>
              <a:t> w </a:t>
            </a:r>
            <a:r>
              <a:rPr lang="en-US" err="1"/>
              <a:t>trakcie</a:t>
            </a:r>
            <a:r>
              <a:rPr lang="en-US"/>
              <a:t> prezentacji.</a:t>
            </a:r>
          </a:p>
        </p:txBody>
      </p:sp>
    </p:spTree>
    <p:extLst>
      <p:ext uri="{BB962C8B-B14F-4D97-AF65-F5344CB8AC3E}">
        <p14:creationId xmlns:p14="http://schemas.microsoft.com/office/powerpoint/2010/main" val="3924383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FCEC8-9AA4-B04A-C31D-661063AF7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Wprowadzenie</a:t>
            </a:r>
            <a:r>
              <a:rPr lang="en-US"/>
              <a:t> do platformy Databricks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E5E80-7E15-1728-A3E8-2829FE2B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  <a:hlinkClick r:id="rId2"/>
              </a:rPr>
              <a:t>Data Lakehouse = Data Lake + Data Warehouse</a:t>
            </a:r>
          </a:p>
          <a:p>
            <a:r>
              <a:rPr lang="en-US">
                <a:ea typeface="+mn-lt"/>
                <a:cs typeface="+mn-lt"/>
                <a:hlinkClick r:id="rId3"/>
              </a:rPr>
              <a:t>Unified Analytics (Data Engineering + Data Science + BI + Machine </a:t>
            </a:r>
            <a:r>
              <a:rPr lang="en-US" err="1">
                <a:ea typeface="+mn-lt"/>
                <a:cs typeface="+mn-lt"/>
                <a:hlinkClick r:id="rId3"/>
              </a:rPr>
              <a:t>Learing</a:t>
            </a:r>
            <a:r>
              <a:rPr lang="en-US">
                <a:ea typeface="+mn-lt"/>
                <a:cs typeface="+mn-lt"/>
                <a:hlinkClick r:id="rId3"/>
              </a:rPr>
              <a:t>)</a:t>
            </a:r>
          </a:p>
          <a:p>
            <a:r>
              <a:rPr lang="en-US" err="1"/>
              <a:t>Optymalna</a:t>
            </a:r>
            <a:r>
              <a:rPr lang="en-US"/>
              <a:t> </a:t>
            </a:r>
            <a:r>
              <a:rPr lang="en-US" err="1"/>
              <a:t>praca</a:t>
            </a:r>
            <a:r>
              <a:rPr lang="en-US"/>
              <a:t> z </a:t>
            </a:r>
            <a:r>
              <a:rPr lang="en-US" err="1"/>
              <a:t>danymi</a:t>
            </a:r>
            <a:r>
              <a:rPr lang="en-US"/>
              <a:t> </a:t>
            </a:r>
            <a:r>
              <a:rPr lang="en-US" err="1"/>
              <a:t>dzięki</a:t>
            </a:r>
            <a:r>
              <a:rPr lang="en-US"/>
              <a:t> </a:t>
            </a:r>
            <a:r>
              <a:rPr lang="en-US" err="1"/>
              <a:t>samemu</a:t>
            </a:r>
            <a:r>
              <a:rPr lang="en-US"/>
              <a:t> </a:t>
            </a:r>
            <a:r>
              <a:rPr lang="en-US" err="1"/>
              <a:t>oprogramowaniu</a:t>
            </a:r>
            <a:r>
              <a:rPr lang="en-US"/>
              <a:t>, jak </a:t>
            </a:r>
            <a:r>
              <a:rPr lang="en-US" err="1"/>
              <a:t>i</a:t>
            </a:r>
            <a:r>
              <a:rPr lang="en-US"/>
              <a:t> </a:t>
            </a:r>
            <a:r>
              <a:rPr lang="en-US" err="1"/>
              <a:t>inteligentnego</a:t>
            </a:r>
            <a:r>
              <a:rPr lang="en-US"/>
              <a:t> </a:t>
            </a:r>
            <a:r>
              <a:rPr lang="en-US" err="1"/>
              <a:t>wykorzystania</a:t>
            </a:r>
            <a:r>
              <a:rPr lang="en-US"/>
              <a:t> </a:t>
            </a:r>
            <a:r>
              <a:rPr lang="en-US" err="1"/>
              <a:t>chmury</a:t>
            </a:r>
            <a:r>
              <a:rPr lang="en-US"/>
              <a:t> pod </a:t>
            </a:r>
            <a:r>
              <a:rPr lang="en-US" err="1"/>
              <a:t>kątem</a:t>
            </a:r>
            <a:r>
              <a:rPr lang="en-US"/>
              <a:t> </a:t>
            </a:r>
            <a:r>
              <a:rPr lang="en-US" err="1"/>
              <a:t>zarządzania</a:t>
            </a:r>
            <a:r>
              <a:rPr lang="en-US"/>
              <a:t> </a:t>
            </a:r>
            <a:r>
              <a:rPr lang="en-US" err="1"/>
              <a:t>mocą</a:t>
            </a:r>
            <a:r>
              <a:rPr lang="en-US"/>
              <a:t> </a:t>
            </a:r>
            <a:r>
              <a:rPr lang="en-US" err="1"/>
              <a:t>obliczeniową</a:t>
            </a:r>
            <a:r>
              <a:rPr lang="en-US"/>
              <a:t> </a:t>
            </a:r>
            <a:r>
              <a:rPr lang="en-US" err="1"/>
              <a:t>i</a:t>
            </a:r>
            <a:r>
              <a:rPr lang="en-US"/>
              <a:t> </a:t>
            </a:r>
            <a:r>
              <a:rPr lang="en-US" err="1"/>
              <a:t>przestrzenią</a:t>
            </a:r>
            <a:r>
              <a:rPr lang="en-US"/>
              <a:t> </a:t>
            </a:r>
            <a:r>
              <a:rPr lang="en-US" err="1"/>
              <a:t>dyskową</a:t>
            </a:r>
            <a:r>
              <a:rPr lang="en-US"/>
              <a:t>.</a:t>
            </a:r>
          </a:p>
          <a:p>
            <a:r>
              <a:rPr lang="en-US" err="1"/>
              <a:t>Jednolite</a:t>
            </a:r>
            <a:r>
              <a:rPr lang="en-US"/>
              <a:t> </a:t>
            </a:r>
            <a:r>
              <a:rPr lang="en-US" err="1"/>
              <a:t>zarządzanie</a:t>
            </a:r>
            <a:r>
              <a:rPr lang="en-US"/>
              <a:t> </a:t>
            </a:r>
            <a:r>
              <a:rPr lang="en-US" err="1"/>
              <a:t>uprawnieniami</a:t>
            </a:r>
            <a:r>
              <a:rPr lang="en-US"/>
              <a:t>.</a:t>
            </a:r>
          </a:p>
          <a:p>
            <a:r>
              <a:rPr lang="en-US" err="1">
                <a:hlinkClick r:id="rId4"/>
              </a:rPr>
              <a:t>Integracja</a:t>
            </a:r>
            <a:r>
              <a:rPr lang="en-US">
                <a:hlinkClick r:id="rId4"/>
              </a:rPr>
              <a:t> z </a:t>
            </a:r>
            <a:r>
              <a:rPr lang="en-US" err="1">
                <a:hlinkClick r:id="rId4"/>
              </a:rPr>
              <a:t>repozytoriami</a:t>
            </a:r>
            <a:r>
              <a:rPr lang="en-US">
                <a:hlinkClick r:id="rId4"/>
              </a:rPr>
              <a:t> </a:t>
            </a:r>
            <a:r>
              <a:rPr lang="en-US" err="1">
                <a:hlinkClick r:id="rId4"/>
              </a:rPr>
              <a:t>kodu</a:t>
            </a:r>
            <a:r>
              <a:rPr lang="en-US">
                <a:hlinkClick r:id="rId4"/>
              </a:rPr>
              <a:t>, CI/CD</a:t>
            </a:r>
            <a:r>
              <a:rPr lang="en-US"/>
              <a:t>.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6371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7B81A-3507-DA28-B7D2-1CE55C4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Architektura</a:t>
            </a:r>
            <a:r>
              <a:rPr lang="en-US"/>
              <a:t> Databricks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2836C-D6A1-DB1C-EEAC-21AEF7D892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  <a:hlinkClick r:id="rId2"/>
              </a:rPr>
              <a:t>https://docs.databricks.com/aws/en/getting-started/high-level-architecture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92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BFE6A-1115-FD42-8C51-3C8F4877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hlinkClick r:id="rId2"/>
              </a:rPr>
              <a:t>Zakładamy konta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6130873-10A5-FEE5-C70B-88BA71BBD8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57594" y="1825625"/>
            <a:ext cx="927681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40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6AC8C-E8E9-735D-419A-3D71C585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Omówienie</a:t>
            </a:r>
            <a:r>
              <a:rPr lang="en-US"/>
              <a:t> </a:t>
            </a:r>
            <a:r>
              <a:rPr lang="en-US" err="1"/>
              <a:t>interfejsu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3CEFE-726E-5F8B-BAF4-64DF054881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  <a:hlinkClick r:id="rId2"/>
              </a:rPr>
              <a:t>https://docs.databricks.com/aws/en/getting-started/concepts</a:t>
            </a:r>
            <a:endParaRPr lang="en-US"/>
          </a:p>
          <a:p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55086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D7E45-202C-C6E5-69CA-F937BB5A3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Podstawy</a:t>
            </a:r>
            <a:r>
              <a:rPr lang="en-US"/>
              <a:t> </a:t>
            </a:r>
            <a:r>
              <a:rPr lang="en-US" err="1"/>
              <a:t>pracy</a:t>
            </a:r>
            <a:r>
              <a:rPr lang="en-US"/>
              <a:t> z </a:t>
            </a:r>
            <a:r>
              <a:rPr lang="en-US" err="1"/>
              <a:t>notebookami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FB5F2-CAD3-E75B-D11B-019C1193C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>
                <a:ea typeface="+mn-lt"/>
                <a:cs typeface="+mn-lt"/>
                <a:hlinkClick r:id="rId2"/>
              </a:rPr>
              <a:t>https://docs.databricks.com/aws/en/notebooks/</a:t>
            </a:r>
            <a:endParaRPr lang="en-US">
              <a:ea typeface="+mn-lt"/>
              <a:cs typeface="+mn-lt"/>
            </a:endParaRPr>
          </a:p>
          <a:p>
            <a:r>
              <a:rPr lang="en-US" err="1"/>
              <a:t>Możemy</a:t>
            </a:r>
            <a:r>
              <a:rPr lang="en-US"/>
              <a:t> </a:t>
            </a:r>
            <a:r>
              <a:rPr lang="en-US" err="1"/>
              <a:t>pisać</a:t>
            </a:r>
            <a:r>
              <a:rPr lang="en-US"/>
              <a:t> w SQL, Python, Scala, R </a:t>
            </a:r>
            <a:r>
              <a:rPr lang="en-US" err="1"/>
              <a:t>stosując</a:t>
            </a:r>
            <a:r>
              <a:rPr lang="en-US"/>
              <a:t> magic commands %</a:t>
            </a:r>
            <a:r>
              <a:rPr lang="en-US" err="1"/>
              <a:t>sql</a:t>
            </a:r>
            <a:r>
              <a:rPr lang="en-US"/>
              <a:t>, %python, %scala, %r. W </a:t>
            </a:r>
            <a:r>
              <a:rPr lang="en-US" err="1"/>
              <a:t>darmowej</a:t>
            </a:r>
            <a:r>
              <a:rPr lang="en-US"/>
              <a:t> </a:t>
            </a:r>
            <a:r>
              <a:rPr lang="en-US" err="1"/>
              <a:t>wersji</a:t>
            </a:r>
            <a:r>
              <a:rPr lang="en-US"/>
              <a:t> </a:t>
            </a:r>
            <a:r>
              <a:rPr lang="en-US" err="1"/>
              <a:t>dostępne</a:t>
            </a:r>
            <a:r>
              <a:rPr lang="en-US"/>
              <a:t> </a:t>
            </a:r>
            <a:r>
              <a:rPr lang="en-US" err="1"/>
              <a:t>są</a:t>
            </a:r>
            <a:r>
              <a:rPr lang="en-US"/>
              <a:t> </a:t>
            </a:r>
            <a:r>
              <a:rPr lang="en-US" err="1"/>
              <a:t>tylko</a:t>
            </a:r>
            <a:r>
              <a:rPr lang="en-US"/>
              <a:t> </a:t>
            </a:r>
            <a:r>
              <a:rPr lang="en-US" err="1"/>
              <a:t>pierwsze</a:t>
            </a:r>
            <a:r>
              <a:rPr lang="en-US"/>
              <a:t> </a:t>
            </a:r>
            <a:r>
              <a:rPr lang="en-US" err="1"/>
              <a:t>dwa</a:t>
            </a:r>
            <a:r>
              <a:rPr lang="en-US"/>
              <a:t>. </a:t>
            </a:r>
            <a:r>
              <a:rPr lang="en-US" err="1"/>
              <a:t>Dostępny</a:t>
            </a:r>
            <a:r>
              <a:rPr lang="en-US"/>
              <a:t> jest Markdown za </a:t>
            </a:r>
            <a:r>
              <a:rPr lang="en-US" err="1"/>
              <a:t>pomocą</a:t>
            </a:r>
            <a:r>
              <a:rPr lang="en-US"/>
              <a:t> %</a:t>
            </a:r>
            <a:r>
              <a:rPr lang="en-US" err="1"/>
              <a:t>md.</a:t>
            </a:r>
            <a:endParaRPr lang="en-US"/>
          </a:p>
          <a:p>
            <a:r>
              <a:rPr lang="en-US" err="1"/>
              <a:t>Możemy</a:t>
            </a:r>
            <a:r>
              <a:rPr lang="en-US"/>
              <a:t> </a:t>
            </a:r>
            <a:r>
              <a:rPr lang="en-US" err="1"/>
              <a:t>uruchomić</a:t>
            </a:r>
            <a:r>
              <a:rPr lang="en-US"/>
              <a:t> </a:t>
            </a:r>
            <a:r>
              <a:rPr lang="en-US" err="1"/>
              <a:t>tylko</a:t>
            </a:r>
            <a:r>
              <a:rPr lang="en-US"/>
              <a:t> </a:t>
            </a:r>
            <a:r>
              <a:rPr lang="en-US" err="1"/>
              <a:t>jeden</a:t>
            </a:r>
            <a:r>
              <a:rPr lang="en-US"/>
              <a:t> fragment </a:t>
            </a:r>
            <a:r>
              <a:rPr lang="en-US" err="1"/>
              <a:t>zamiast</a:t>
            </a:r>
            <a:r>
              <a:rPr lang="en-US"/>
              <a:t> </a:t>
            </a:r>
            <a:r>
              <a:rPr lang="en-US" err="1"/>
              <a:t>całości</a:t>
            </a:r>
            <a:r>
              <a:rPr lang="en-US"/>
              <a:t>. </a:t>
            </a:r>
            <a:r>
              <a:rPr lang="en-US" err="1"/>
              <a:t>Widzimy</a:t>
            </a:r>
            <a:r>
              <a:rPr lang="en-US"/>
              <a:t> output </a:t>
            </a:r>
            <a:r>
              <a:rPr lang="en-US" err="1"/>
              <a:t>dla</a:t>
            </a:r>
            <a:r>
              <a:rPr lang="en-US"/>
              <a:t> </a:t>
            </a:r>
            <a:r>
              <a:rPr lang="en-US" err="1"/>
              <a:t>tego</a:t>
            </a:r>
            <a:r>
              <a:rPr lang="en-US"/>
              <a:t> </a:t>
            </a:r>
            <a:r>
              <a:rPr lang="en-US" err="1"/>
              <a:t>fragmentu</a:t>
            </a:r>
            <a:r>
              <a:rPr lang="en-US"/>
              <a:t> </a:t>
            </a:r>
            <a:r>
              <a:rPr lang="en-US" err="1"/>
              <a:t>zamiast</a:t>
            </a:r>
            <a:r>
              <a:rPr lang="en-US"/>
              <a:t> </a:t>
            </a:r>
            <a:r>
              <a:rPr lang="en-US" err="1"/>
              <a:t>często</a:t>
            </a:r>
            <a:r>
              <a:rPr lang="en-US"/>
              <a:t> </a:t>
            </a:r>
            <a:r>
              <a:rPr lang="en-US" err="1"/>
              <a:t>niepotrzebnej</a:t>
            </a:r>
            <a:r>
              <a:rPr lang="en-US"/>
              <a:t> </a:t>
            </a:r>
            <a:r>
              <a:rPr lang="en-US" err="1"/>
              <a:t>całości</a:t>
            </a:r>
            <a:r>
              <a:rPr lang="en-US"/>
              <a:t>.</a:t>
            </a:r>
          </a:p>
          <a:p>
            <a:r>
              <a:rPr lang="en-US"/>
              <a:t>Output </a:t>
            </a:r>
            <a:r>
              <a:rPr lang="en-US" err="1"/>
              <a:t>dla</a:t>
            </a:r>
            <a:r>
              <a:rPr lang="en-US"/>
              <a:t> </a:t>
            </a:r>
            <a:r>
              <a:rPr lang="en-US" err="1"/>
              <a:t>uruchomionego</a:t>
            </a:r>
            <a:r>
              <a:rPr lang="en-US"/>
              <a:t> </a:t>
            </a:r>
            <a:r>
              <a:rPr lang="en-US" err="1"/>
              <a:t>bloku</a:t>
            </a:r>
            <a:r>
              <a:rPr lang="en-US"/>
              <a:t> </a:t>
            </a:r>
            <a:r>
              <a:rPr lang="en-US" err="1"/>
              <a:t>kodu</a:t>
            </a:r>
            <a:r>
              <a:rPr lang="en-US"/>
              <a:t> </a:t>
            </a:r>
            <a:r>
              <a:rPr lang="en-US" err="1"/>
              <a:t>pozostaje</a:t>
            </a:r>
            <a:r>
              <a:rPr lang="en-US"/>
              <a:t> do </a:t>
            </a:r>
            <a:r>
              <a:rPr lang="en-US" err="1"/>
              <a:t>czasu</a:t>
            </a:r>
            <a:r>
              <a:rPr lang="en-US"/>
              <a:t> </a:t>
            </a:r>
            <a:r>
              <a:rPr lang="en-US" err="1"/>
              <a:t>kolejnego</a:t>
            </a:r>
            <a:r>
              <a:rPr lang="en-US"/>
              <a:t> </a:t>
            </a:r>
            <a:r>
              <a:rPr lang="en-US" err="1"/>
              <a:t>uruchomienia</a:t>
            </a:r>
            <a:r>
              <a:rPr lang="en-US"/>
              <a:t> </a:t>
            </a:r>
            <a:r>
              <a:rPr lang="en-US" err="1"/>
              <a:t>tego</a:t>
            </a:r>
            <a:r>
              <a:rPr lang="en-US"/>
              <a:t> </a:t>
            </a:r>
            <a:r>
              <a:rPr lang="en-US" err="1"/>
              <a:t>bloku</a:t>
            </a:r>
            <a:r>
              <a:rPr lang="en-US"/>
              <a:t>.</a:t>
            </a:r>
          </a:p>
          <a:p>
            <a:r>
              <a:rPr lang="en-US" err="1"/>
              <a:t>Notebooki</a:t>
            </a:r>
            <a:r>
              <a:rPr lang="en-US"/>
              <a:t> </a:t>
            </a:r>
            <a:r>
              <a:rPr lang="en-US" err="1"/>
              <a:t>są</a:t>
            </a:r>
            <a:r>
              <a:rPr lang="en-US"/>
              <a:t> </a:t>
            </a:r>
            <a:r>
              <a:rPr lang="en-US" err="1"/>
              <a:t>wersjonowane</a:t>
            </a:r>
            <a:r>
              <a:rPr lang="en-US"/>
              <a:t>.</a:t>
            </a:r>
          </a:p>
          <a:p>
            <a:r>
              <a:rPr lang="en-US" err="1"/>
              <a:t>Możemy</a:t>
            </a:r>
            <a:r>
              <a:rPr lang="en-US"/>
              <a:t> </a:t>
            </a:r>
            <a:r>
              <a:rPr lang="en-US" err="1"/>
              <a:t>podejrzeć</a:t>
            </a:r>
            <a:r>
              <a:rPr lang="en-US"/>
              <a:t> </a:t>
            </a:r>
            <a:r>
              <a:rPr lang="en-US" err="1"/>
              <a:t>zmienne</a:t>
            </a:r>
            <a:r>
              <a:rPr lang="en-US"/>
              <a:t>.</a:t>
            </a:r>
          </a:p>
          <a:p>
            <a:r>
              <a:rPr lang="en-US"/>
              <a:t>Mamy </a:t>
            </a:r>
            <a:r>
              <a:rPr lang="en-US" err="1"/>
              <a:t>wsparcie</a:t>
            </a:r>
            <a:r>
              <a:rPr lang="en-US"/>
              <a:t> </a:t>
            </a:r>
            <a:r>
              <a:rPr lang="en-US">
                <a:ea typeface="+mn-lt"/>
                <a:cs typeface="+mn-lt"/>
              </a:rPr>
              <a:t>Genie Code (AI) - code completion, </a:t>
            </a:r>
            <a:r>
              <a:rPr lang="en-US" err="1">
                <a:ea typeface="+mn-lt"/>
                <a:cs typeface="+mn-lt"/>
              </a:rPr>
              <a:t>rozumienie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struktur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danych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można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się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prostu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zapytać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różne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rzeczy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2183581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D9DE-A68E-2BDD-4369-18871C7F1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Notebook </a:t>
            </a:r>
            <a:r>
              <a:rPr lang="en-US" err="1"/>
              <a:t>Podstawy</a:t>
            </a:r>
            <a:r>
              <a:rPr lang="en-US"/>
              <a:t> </a:t>
            </a:r>
            <a:r>
              <a:rPr lang="en-US" err="1"/>
              <a:t>pracy</a:t>
            </a:r>
            <a:r>
              <a:rPr lang="en-US"/>
              <a:t> z </a:t>
            </a:r>
            <a:r>
              <a:rPr lang="en-US" err="1"/>
              <a:t>notebookami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DEB5E-4AE2-3168-2A51-67F9B3140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64E3-CBA2-5F81-D8A5-79137DA73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Apache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C3F3E-EDD5-7217-F033-B49193210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Apache Spark - </a:t>
            </a:r>
            <a:r>
              <a:rPr lang="en-US" err="1">
                <a:ea typeface="+mn-lt"/>
                <a:cs typeface="+mn-lt"/>
              </a:rPr>
              <a:t>opensourcowy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silnik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przetwarzania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danych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r>
              <a:rPr lang="en-US" err="1">
                <a:ea typeface="+mn-lt"/>
                <a:cs typeface="+mn-lt"/>
              </a:rPr>
              <a:t>Twórcy</a:t>
            </a:r>
            <a:r>
              <a:rPr lang="en-US">
                <a:ea typeface="+mn-lt"/>
                <a:cs typeface="+mn-lt"/>
              </a:rPr>
              <a:t> Apache Sparka to </a:t>
            </a:r>
            <a:r>
              <a:rPr lang="en-US" err="1">
                <a:ea typeface="+mn-lt"/>
                <a:cs typeface="+mn-lt"/>
              </a:rPr>
              <a:t>twórcy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Databricksa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r>
              <a:rPr lang="en-US" err="1">
                <a:ea typeface="+mn-lt"/>
                <a:cs typeface="+mn-lt"/>
              </a:rPr>
              <a:t>Architektura</a:t>
            </a:r>
            <a:r>
              <a:rPr lang="en-US">
                <a:ea typeface="+mn-lt"/>
                <a:cs typeface="+mn-lt"/>
              </a:rPr>
              <a:t> Spark: </a:t>
            </a:r>
            <a:r>
              <a:rPr lang="en-US">
                <a:ea typeface="+mn-lt"/>
                <a:cs typeface="+mn-lt"/>
                <a:hlinkClick r:id="rId2"/>
              </a:rPr>
              <a:t>https://spark.apache.org/docs/latest/cluster-overview.html</a:t>
            </a:r>
          </a:p>
          <a:p>
            <a:r>
              <a:rPr lang="en-US">
                <a:ea typeface="+mn-lt"/>
                <a:cs typeface="+mn-lt"/>
              </a:rPr>
              <a:t>Driver - </a:t>
            </a:r>
            <a:r>
              <a:rPr lang="en-US" err="1">
                <a:ea typeface="+mn-lt"/>
                <a:cs typeface="+mn-lt"/>
              </a:rPr>
              <a:t>rozdziela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zadania</a:t>
            </a:r>
            <a:r>
              <a:rPr lang="en-US">
                <a:ea typeface="+mn-lt"/>
                <a:cs typeface="+mn-lt"/>
              </a:rPr>
              <a:t> w </a:t>
            </a:r>
            <a:r>
              <a:rPr lang="en-US" err="1">
                <a:ea typeface="+mn-lt"/>
                <a:cs typeface="+mn-lt"/>
              </a:rPr>
              <a:t>ramach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jednego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procesu</a:t>
            </a:r>
            <a:r>
              <a:rPr lang="en-US">
                <a:ea typeface="+mn-lt"/>
                <a:cs typeface="+mn-lt"/>
              </a:rPr>
              <a:t>, executory - </a:t>
            </a:r>
            <a:r>
              <a:rPr lang="en-US" err="1">
                <a:ea typeface="+mn-lt"/>
                <a:cs typeface="+mn-lt"/>
              </a:rPr>
              <a:t>wykonują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zadania</a:t>
            </a:r>
            <a:r>
              <a:rPr lang="en-US">
                <a:ea typeface="+mn-lt"/>
                <a:cs typeface="+mn-lt"/>
              </a:rPr>
              <a:t>, cluster – </a:t>
            </a:r>
            <a:r>
              <a:rPr lang="en-US" err="1">
                <a:ea typeface="+mn-lt"/>
                <a:cs typeface="+mn-lt"/>
              </a:rPr>
              <a:t>drivery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 err="1">
                <a:ea typeface="+mn-lt"/>
                <a:cs typeface="+mn-lt"/>
              </a:rPr>
              <a:t>i</a:t>
            </a:r>
            <a:r>
              <a:rPr lang="en-US">
                <a:ea typeface="+mn-lt"/>
                <a:cs typeface="+mn-lt"/>
              </a:rPr>
              <a:t> executory, </a:t>
            </a:r>
            <a:r>
              <a:rPr lang="en-US" err="1">
                <a:ea typeface="+mn-lt"/>
                <a:cs typeface="+mn-lt"/>
              </a:rPr>
              <a:t>może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być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elastyczny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dzięki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databricksowi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który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może</a:t>
            </a:r>
            <a:r>
              <a:rPr lang="en-US">
                <a:ea typeface="+mn-lt"/>
                <a:cs typeface="+mn-lt"/>
              </a:rPr>
              <a:t> go doskalować.</a:t>
            </a:r>
          </a:p>
          <a:p>
            <a:r>
              <a:rPr lang="en-US">
                <a:ea typeface="+mn-lt"/>
                <a:cs typeface="+mn-lt"/>
                <a:hlinkClick r:id="rId3"/>
              </a:rPr>
              <a:t>https://docs.databricks.com/aws/en/spark/faq</a:t>
            </a:r>
          </a:p>
        </p:txBody>
      </p:sp>
    </p:spTree>
    <p:extLst>
      <p:ext uri="{BB962C8B-B14F-4D97-AF65-F5344CB8AC3E}">
        <p14:creationId xmlns:p14="http://schemas.microsoft.com/office/powerpoint/2010/main" val="985535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36E17-D3E8-2D22-6190-CFC32FCF7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PySpark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A83B1-B6A5-AA15-5F1F-E3F280C43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Tutorial: Load and transform data using Apache Spark DataFrames</a:t>
            </a:r>
          </a:p>
          <a:p>
            <a:r>
              <a:rPr lang="en-US" dirty="0">
                <a:hlinkClick r:id="rId3"/>
              </a:rPr>
              <a:t>PySpark basics</a:t>
            </a:r>
            <a:endParaRPr lang="en-US">
              <a:ea typeface="+mn-lt"/>
              <a:cs typeface="+mn-lt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3161090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39CB9-263D-8A82-F0A8-4FC4919DC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Notebook </a:t>
            </a:r>
            <a:r>
              <a:rPr lang="en-US" dirty="0" err="1"/>
              <a:t>Zadania</a:t>
            </a:r>
            <a:r>
              <a:rPr lang="en-US" dirty="0"/>
              <a:t> </a:t>
            </a:r>
            <a:r>
              <a:rPr lang="en-US" dirty="0" err="1"/>
              <a:t>pyspark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59A14-AA9F-50B0-01BB-08E332E4C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72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4DE1F-986B-3C65-6456-AC23262F1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B2C03-F965-9B05-5C7A-487819062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  <a:hlinkClick r:id="rId2"/>
              </a:rPr>
              <a:t>https://www.databricks.com/blog/what-is-spark-sql</a:t>
            </a:r>
            <a:endParaRPr lang="en-US" dirty="0">
              <a:ea typeface="+mn-lt"/>
              <a:cs typeface="+mn-lt"/>
            </a:endParaRPr>
          </a:p>
          <a:p>
            <a:r>
              <a:rPr lang="en-US" dirty="0" err="1">
                <a:ea typeface="+mn-lt"/>
                <a:cs typeface="+mn-lt"/>
                <a:hlinkClick r:id="rId3"/>
              </a:rPr>
              <a:t>Można</a:t>
            </a:r>
            <a:r>
              <a:rPr lang="en-US" dirty="0">
                <a:ea typeface="+mn-lt"/>
                <a:cs typeface="+mn-lt"/>
                <a:hlinkClick r:id="rId3"/>
              </a:rPr>
              <a:t> </a:t>
            </a:r>
            <a:r>
              <a:rPr lang="en-US" dirty="0" err="1">
                <a:ea typeface="+mn-lt"/>
                <a:cs typeface="+mn-lt"/>
                <a:hlinkClick r:id="rId3"/>
              </a:rPr>
              <a:t>też</a:t>
            </a:r>
            <a:r>
              <a:rPr lang="en-US" dirty="0">
                <a:ea typeface="+mn-lt"/>
                <a:cs typeface="+mn-lt"/>
                <a:hlinkClick r:id="rId3"/>
              </a:rPr>
              <a:t> </a:t>
            </a:r>
            <a:r>
              <a:rPr lang="en-US" dirty="0" err="1">
                <a:ea typeface="+mn-lt"/>
                <a:cs typeface="+mn-lt"/>
                <a:hlinkClick r:id="rId3"/>
              </a:rPr>
              <a:t>SQLem</a:t>
            </a:r>
            <a:r>
              <a:rPr lang="en-US" dirty="0">
                <a:ea typeface="+mn-lt"/>
                <a:cs typeface="+mn-lt"/>
                <a:hlinkClick r:id="rId3"/>
              </a:rPr>
              <a:t> </a:t>
            </a:r>
            <a:r>
              <a:rPr lang="en-US" dirty="0" err="1">
                <a:ea typeface="+mn-lt"/>
                <a:cs typeface="+mn-lt"/>
                <a:hlinkClick r:id="rId3"/>
              </a:rPr>
              <a:t>odczytywać</a:t>
            </a:r>
            <a:r>
              <a:rPr lang="en-US" dirty="0">
                <a:ea typeface="+mn-lt"/>
                <a:cs typeface="+mn-lt"/>
                <a:hlinkClick r:id="rId3"/>
              </a:rPr>
              <a:t> </a:t>
            </a:r>
            <a:r>
              <a:rPr lang="en-US" dirty="0" err="1">
                <a:ea typeface="+mn-lt"/>
                <a:cs typeface="+mn-lt"/>
                <a:hlinkClick r:id="rId3"/>
              </a:rPr>
              <a:t>pliki</a:t>
            </a:r>
            <a:r>
              <a:rPr lang="en-US" dirty="0">
                <a:ea typeface="+mn-lt"/>
                <a:cs typeface="+mn-lt"/>
                <a:hlinkClick r:id="rId3"/>
              </a:rPr>
              <a:t> csv, ale </a:t>
            </a:r>
            <a:r>
              <a:rPr lang="en-US" dirty="0" err="1">
                <a:ea typeface="+mn-lt"/>
                <a:cs typeface="+mn-lt"/>
                <a:hlinkClick r:id="rId3"/>
              </a:rPr>
              <a:t>na</a:t>
            </a:r>
            <a:r>
              <a:rPr lang="en-US" dirty="0">
                <a:ea typeface="+mn-lt"/>
                <a:cs typeface="+mn-lt"/>
                <a:hlinkClick r:id="rId3"/>
              </a:rPr>
              <a:t> </a:t>
            </a:r>
            <a:r>
              <a:rPr lang="en-US" dirty="0" err="1">
                <a:ea typeface="+mn-lt"/>
                <a:cs typeface="+mn-lt"/>
                <a:hlinkClick r:id="rId3"/>
              </a:rPr>
              <a:t>darmowej</a:t>
            </a:r>
            <a:r>
              <a:rPr lang="en-US" dirty="0">
                <a:ea typeface="+mn-lt"/>
                <a:cs typeface="+mn-lt"/>
                <a:hlinkClick r:id="rId3"/>
              </a:rPr>
              <a:t> </a:t>
            </a:r>
            <a:r>
              <a:rPr lang="en-US" dirty="0" err="1">
                <a:ea typeface="+mn-lt"/>
                <a:cs typeface="+mn-lt"/>
                <a:hlinkClick r:id="rId3"/>
              </a:rPr>
              <a:t>wersji</a:t>
            </a:r>
            <a:r>
              <a:rPr lang="en-US" dirty="0">
                <a:ea typeface="+mn-lt"/>
                <a:cs typeface="+mn-lt"/>
                <a:hlinkClick r:id="rId3"/>
              </a:rPr>
              <a:t> to </a:t>
            </a:r>
            <a:r>
              <a:rPr lang="en-US" dirty="0" err="1">
                <a:ea typeface="+mn-lt"/>
                <a:cs typeface="+mn-lt"/>
                <a:hlinkClick r:id="rId3"/>
              </a:rPr>
              <a:t>nie</a:t>
            </a:r>
            <a:r>
              <a:rPr lang="en-US" dirty="0">
                <a:ea typeface="+mn-lt"/>
                <a:cs typeface="+mn-lt"/>
                <a:hlinkClick r:id="rId3"/>
              </a:rPr>
              <a:t> jest dostępne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072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E4FA4-CF54-7BA2-C70C-ECA0FAA0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UDF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5347B-500D-21C7-D4D3-D358ED21E8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  <a:hlinkClick r:id="rId2"/>
              </a:rPr>
              <a:t>Czym</a:t>
            </a:r>
            <a:r>
              <a:rPr lang="en-US" dirty="0">
                <a:ea typeface="+mn-lt"/>
                <a:cs typeface="+mn-lt"/>
                <a:hlinkClick r:id="rId2"/>
              </a:rPr>
              <a:t> są UDF?</a:t>
            </a:r>
            <a:endParaRPr lang="en-US" dirty="0">
              <a:ea typeface="+mn-lt"/>
              <a:cs typeface="+mn-lt"/>
            </a:endParaRPr>
          </a:p>
          <a:p>
            <a:r>
              <a:rPr lang="en-US" dirty="0" err="1">
                <a:ea typeface="+mn-lt"/>
                <a:cs typeface="+mn-lt"/>
              </a:rPr>
              <a:t>Porównanie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wydajności</a:t>
            </a:r>
            <a:r>
              <a:rPr lang="en-US" dirty="0">
                <a:ea typeface="+mn-lt"/>
                <a:cs typeface="+mn-lt"/>
              </a:rPr>
              <a:t> UDF vs built-in functions</a:t>
            </a:r>
            <a:endParaRPr lang="en-US" dirty="0"/>
          </a:p>
          <a:p>
            <a:r>
              <a:rPr lang="en-US" err="1">
                <a:ea typeface="+mn-lt"/>
                <a:cs typeface="+mn-lt"/>
              </a:rPr>
              <a:t>Zadania</a:t>
            </a:r>
            <a:r>
              <a:rPr lang="en-US">
                <a:ea typeface="+mn-lt"/>
                <a:cs typeface="+mn-lt"/>
              </a:rPr>
              <a:t> w notebooku UDF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764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06135-6F85-F72C-526B-6BE0734A3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Praca</a:t>
            </a:r>
            <a:r>
              <a:rPr lang="en-US" dirty="0">
                <a:ea typeface="+mj-lt"/>
                <a:cs typeface="+mj-lt"/>
              </a:rPr>
              <a:t> z Delta Lake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30E41-4B64-8512-92C1-58C3129B9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  <a:hlinkClick r:id="rId2"/>
              </a:rPr>
              <a:t>Czym jest Delta Lake w Databricks</a:t>
            </a:r>
            <a:endParaRPr lang="en-US"/>
          </a:p>
          <a:p>
            <a:r>
              <a:rPr lang="en-US" dirty="0">
                <a:ea typeface="+mn-lt"/>
                <a:cs typeface="+mn-lt"/>
                <a:hlinkClick r:id="rId3"/>
              </a:rPr>
              <a:t>ACID (Atomicity, Consistency, Isolation, Durability)</a:t>
            </a:r>
            <a:endParaRPr lang="en-US"/>
          </a:p>
          <a:p>
            <a:r>
              <a:rPr lang="en-US" dirty="0" err="1">
                <a:ea typeface="+mn-lt"/>
                <a:cs typeface="+mn-lt"/>
                <a:hlinkClick r:id="rId4"/>
              </a:rPr>
              <a:t>Praca</a:t>
            </a:r>
            <a:r>
              <a:rPr lang="en-US" dirty="0">
                <a:ea typeface="+mn-lt"/>
                <a:cs typeface="+mn-lt"/>
                <a:hlinkClick r:id="rId4"/>
              </a:rPr>
              <a:t> z </a:t>
            </a:r>
            <a:r>
              <a:rPr lang="en-US" dirty="0" err="1">
                <a:ea typeface="+mn-lt"/>
                <a:cs typeface="+mn-lt"/>
                <a:hlinkClick r:id="rId4"/>
              </a:rPr>
              <a:t>historią</a:t>
            </a:r>
            <a:r>
              <a:rPr lang="en-US" dirty="0">
                <a:ea typeface="+mn-lt"/>
                <a:cs typeface="+mn-lt"/>
                <a:hlinkClick r:id="rId4"/>
              </a:rPr>
              <a:t> </a:t>
            </a:r>
            <a:r>
              <a:rPr lang="en-US" dirty="0" err="1">
                <a:ea typeface="+mn-lt"/>
                <a:cs typeface="+mn-lt"/>
                <a:hlinkClick r:id="rId4"/>
              </a:rPr>
              <a:t>tabeli</a:t>
            </a:r>
            <a:r>
              <a:rPr lang="en-US" dirty="0">
                <a:ea typeface="+mn-lt"/>
                <a:cs typeface="+mn-lt"/>
              </a:rPr>
              <a:t> </a:t>
            </a:r>
          </a:p>
          <a:p>
            <a:r>
              <a:rPr lang="en-US" dirty="0">
                <a:ea typeface="+mn-lt"/>
                <a:cs typeface="+mn-lt"/>
                <a:hlinkClick r:id="rId5"/>
              </a:rPr>
              <a:t>Vacuum</a:t>
            </a: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  <a:hlinkClick r:id="rId6"/>
              </a:rPr>
              <a:t>Schema enforcement</a:t>
            </a:r>
            <a:r>
              <a:rPr lang="en-US">
                <a:ea typeface="+mn-lt"/>
                <a:cs typeface="+mn-lt"/>
              </a:rPr>
              <a:t> &amp; </a:t>
            </a:r>
            <a:r>
              <a:rPr lang="en-US" dirty="0">
                <a:ea typeface="+mn-lt"/>
                <a:cs typeface="+mn-lt"/>
                <a:hlinkClick r:id="rId7"/>
              </a:rPr>
              <a:t>evolution</a:t>
            </a:r>
            <a:endParaRPr lang="en-US" dirty="0">
              <a:hlinkClick r:id="rId7"/>
            </a:endParaRPr>
          </a:p>
          <a:p>
            <a:r>
              <a:rPr lang="en-US" dirty="0">
                <a:ea typeface="+mn-lt"/>
                <a:cs typeface="+mn-lt"/>
                <a:hlinkClick r:id="rId8"/>
              </a:rPr>
              <a:t>Optimize</a:t>
            </a:r>
            <a:endParaRPr lang="en-US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  <a:hlinkClick r:id="rId9"/>
              </a:rPr>
              <a:t>Liquid clustering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55711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13D94-D03A-DDBA-B083-2518206DA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Notebook Delta Lake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F7784-C257-C7DE-3C74-AE3887DBA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924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B5AF5-6430-998C-BF7E-86CB3533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Joby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D9EB6-E9E3-C762-64B8-C88AC0070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  <a:hlinkClick r:id="rId2"/>
              </a:rPr>
              <a:t>Joby</a:t>
            </a: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  <a:hlinkClick r:id="rId3"/>
              </a:rPr>
              <a:t>Harmonogramy – automatyzacja</a:t>
            </a: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  <a:hlinkClick r:id="rId4"/>
              </a:rPr>
              <a:t>Parametryzacja jobów, wykorzystanie parametrów w notebookach</a:t>
            </a: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W </a:t>
            </a:r>
            <a:r>
              <a:rPr lang="en-US" dirty="0" err="1">
                <a:ea typeface="+mn-lt"/>
                <a:cs typeface="+mn-lt"/>
              </a:rPr>
              <a:t>taskach</a:t>
            </a:r>
            <a:r>
              <a:rPr lang="en-US" dirty="0">
                <a:ea typeface="+mn-lt"/>
                <a:cs typeface="+mn-lt"/>
              </a:rPr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retry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Zależności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pomiędzy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taskami</a:t>
            </a:r>
            <a:r>
              <a:rPr lang="en-US" dirty="0">
                <a:ea typeface="+mn-lt"/>
                <a:cs typeface="+mn-lt"/>
              </a:rPr>
              <a:t> w </a:t>
            </a:r>
            <a:r>
              <a:rPr lang="en-US" dirty="0" err="1">
                <a:ea typeface="+mn-lt"/>
                <a:cs typeface="+mn-lt"/>
              </a:rPr>
              <a:t>jobie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Też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są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parametry</a:t>
            </a:r>
            <a:r>
              <a:rPr lang="en-US" dirty="0">
                <a:ea typeface="+mn-lt"/>
                <a:cs typeface="+mn-lt"/>
              </a:rPr>
              <a:t> – o </a:t>
            </a:r>
            <a:r>
              <a:rPr lang="en-US" dirty="0" err="1">
                <a:ea typeface="+mn-lt"/>
                <a:cs typeface="+mn-lt"/>
              </a:rPr>
              <a:t>mniejszej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randze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niż</a:t>
            </a:r>
            <a:r>
              <a:rPr lang="en-US" dirty="0">
                <a:ea typeface="+mn-lt"/>
                <a:cs typeface="+mn-lt"/>
              </a:rPr>
              <a:t> w </a:t>
            </a:r>
            <a:r>
              <a:rPr lang="en-US" dirty="0" err="1">
                <a:ea typeface="+mn-lt"/>
                <a:cs typeface="+mn-lt"/>
              </a:rPr>
              <a:t>jobie</a:t>
            </a:r>
            <a:endParaRPr lang="en-US">
              <a:ea typeface="+mn-lt"/>
              <a:cs typeface="+mn-lt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270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400E3-0BC7-0108-6EFF-92E06A4E0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Zadanie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54857-2039-7EF6-444F-807363CAE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Stwórz </a:t>
            </a:r>
            <a:r>
              <a:rPr lang="en-US" dirty="0" err="1"/>
              <a:t>testowy</a:t>
            </a:r>
            <a:r>
              <a:rPr lang="en-US" dirty="0"/>
              <a:t> job </a:t>
            </a:r>
            <a:r>
              <a:rPr lang="en-US" dirty="0" err="1"/>
              <a:t>złożony</a:t>
            </a:r>
            <a:r>
              <a:rPr lang="en-US" dirty="0"/>
              <a:t> z </a:t>
            </a:r>
            <a:r>
              <a:rPr lang="en-US" dirty="0" err="1"/>
              <a:t>dwóch</a:t>
            </a:r>
            <a:r>
              <a:rPr lang="en-US" dirty="0"/>
              <a:t> </a:t>
            </a:r>
            <a:r>
              <a:rPr lang="en-US" dirty="0" err="1"/>
              <a:t>tasków</a:t>
            </a:r>
            <a:r>
              <a:rPr lang="en-US" dirty="0"/>
              <a:t> </a:t>
            </a:r>
            <a:r>
              <a:rPr lang="en-US" dirty="0" err="1"/>
              <a:t>wykonywanych</a:t>
            </a:r>
            <a:r>
              <a:rPr lang="en-US" dirty="0"/>
              <a:t> po </a:t>
            </a:r>
            <a:r>
              <a:rPr lang="en-US" dirty="0" err="1"/>
              <a:t>kolei</a:t>
            </a:r>
            <a:r>
              <a:rPr lang="en-US" dirty="0"/>
              <a:t>. </a:t>
            </a:r>
            <a:r>
              <a:rPr lang="en-US" dirty="0" err="1"/>
              <a:t>Pierwszy</a:t>
            </a:r>
            <a:r>
              <a:rPr lang="en-US" dirty="0"/>
              <a:t> task ma </a:t>
            </a:r>
            <a:r>
              <a:rPr lang="en-US" dirty="0" err="1"/>
              <a:t>wypisywać</a:t>
            </a:r>
            <a:r>
              <a:rPr lang="en-US" dirty="0"/>
              <a:t> timestamp </a:t>
            </a:r>
            <a:r>
              <a:rPr lang="en-US" dirty="0" err="1"/>
              <a:t>uruchomienia</a:t>
            </a:r>
            <a:r>
              <a:rPr lang="en-US" dirty="0"/>
              <a:t> </a:t>
            </a:r>
            <a:r>
              <a:rPr lang="en-US" dirty="0" err="1"/>
              <a:t>joba</a:t>
            </a:r>
            <a:r>
              <a:rPr lang="en-US" dirty="0"/>
              <a:t> I </a:t>
            </a:r>
            <a:r>
              <a:rPr lang="en-US" dirty="0" err="1"/>
              <a:t>ścieżkę</a:t>
            </a:r>
            <a:r>
              <a:rPr lang="en-US" dirty="0"/>
              <a:t> do </a:t>
            </a:r>
            <a:r>
              <a:rPr lang="en-US" dirty="0" err="1"/>
              <a:t>notebooka</a:t>
            </a:r>
            <a:r>
              <a:rPr lang="en-US" dirty="0"/>
              <a:t>, </a:t>
            </a:r>
            <a:r>
              <a:rPr lang="en-US" dirty="0" err="1"/>
              <a:t>który</a:t>
            </a:r>
            <a:r>
              <a:rPr lang="en-US" dirty="0"/>
              <a:t> </a:t>
            </a:r>
            <a:r>
              <a:rPr lang="en-US" dirty="0" err="1"/>
              <a:t>aktualnie</a:t>
            </a:r>
            <a:r>
              <a:rPr lang="en-US" dirty="0"/>
              <a:t> jest </a:t>
            </a:r>
            <a:r>
              <a:rPr lang="en-US" dirty="0" err="1"/>
              <a:t>uruchamiany</a:t>
            </a:r>
            <a:r>
              <a:rPr lang="en-US" dirty="0"/>
              <a:t>. Drugi task ma </a:t>
            </a:r>
            <a:r>
              <a:rPr lang="en-US" dirty="0" err="1"/>
              <a:t>poprostu</a:t>
            </a:r>
            <a:r>
              <a:rPr lang="en-US" dirty="0"/>
              <a:t> </a:t>
            </a:r>
            <a:r>
              <a:rPr lang="en-US" dirty="0" err="1"/>
              <a:t>wypisywać</a:t>
            </a:r>
            <a:r>
              <a:rPr lang="en-US" dirty="0"/>
              <a:t> "Good bye!". </a:t>
            </a:r>
            <a:r>
              <a:rPr lang="en-US" dirty="0" err="1"/>
              <a:t>Ustaw</a:t>
            </a:r>
            <a:r>
              <a:rPr lang="en-US" dirty="0"/>
              <a:t> </a:t>
            </a:r>
            <a:r>
              <a:rPr lang="en-US" dirty="0" err="1"/>
              <a:t>cykliczne</a:t>
            </a:r>
            <a:r>
              <a:rPr lang="en-US" dirty="0"/>
              <a:t> </a:t>
            </a:r>
            <a:r>
              <a:rPr lang="en-US" dirty="0" err="1"/>
              <a:t>wykonywanie</a:t>
            </a:r>
            <a:r>
              <a:rPr lang="en-US" dirty="0"/>
              <a:t> </a:t>
            </a:r>
            <a:r>
              <a:rPr lang="en-US" dirty="0" err="1"/>
              <a:t>joba</a:t>
            </a:r>
            <a:r>
              <a:rPr lang="en-US" dirty="0"/>
              <a:t> I </a:t>
            </a:r>
            <a:r>
              <a:rPr lang="en-US" dirty="0" err="1"/>
              <a:t>wysyłanie</a:t>
            </a:r>
            <a:r>
              <a:rPr lang="en-US" dirty="0"/>
              <a:t> </a:t>
            </a:r>
            <a:r>
              <a:rPr lang="en-US" dirty="0" err="1"/>
              <a:t>powiadomień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swój</a:t>
            </a:r>
            <a:r>
              <a:rPr lang="en-US" dirty="0"/>
              <a:t> </a:t>
            </a:r>
            <a:r>
              <a:rPr lang="en-US" dirty="0" err="1"/>
              <a:t>adres</a:t>
            </a:r>
            <a:r>
              <a:rPr lang="en-US" dirty="0"/>
              <a:t> </a:t>
            </a:r>
            <a:r>
              <a:rPr lang="en-US" dirty="0" err="1"/>
              <a:t>mailowy</a:t>
            </a:r>
            <a:r>
              <a:rPr lang="en-US" dirty="0"/>
              <a:t> w </a:t>
            </a:r>
            <a:r>
              <a:rPr lang="en-US" dirty="0" err="1"/>
              <a:t>przypadku</a:t>
            </a:r>
            <a:r>
              <a:rPr lang="en-US" dirty="0"/>
              <a:t> </a:t>
            </a:r>
            <a:r>
              <a:rPr lang="en-US" dirty="0" err="1"/>
              <a:t>powodzenia</a:t>
            </a:r>
            <a:r>
              <a:rPr lang="en-US" dirty="0"/>
              <a:t> </a:t>
            </a:r>
            <a:r>
              <a:rPr lang="en-US" dirty="0" err="1"/>
              <a:t>lub</a:t>
            </a:r>
            <a:r>
              <a:rPr lang="en-US" dirty="0"/>
              <a:t> </a:t>
            </a:r>
            <a:r>
              <a:rPr lang="en-US" dirty="0" err="1"/>
              <a:t>niepowodzenia</a:t>
            </a:r>
            <a:r>
              <a:rPr lang="en-US" dirty="0"/>
              <a:t> </a:t>
            </a:r>
            <a:r>
              <a:rPr lang="en-US" dirty="0" err="1"/>
              <a:t>wykonania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981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5A3AC-6A5A-696E-6CBC-CC1627F50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+mj-lt"/>
                <a:cs typeface="+mj-lt"/>
              </a:rPr>
              <a:t>Przetwarzanie</a:t>
            </a:r>
            <a:r>
              <a:rPr lang="en-US">
                <a:ea typeface="+mj-lt"/>
                <a:cs typeface="+mj-lt"/>
              </a:rPr>
              <a:t> Batch vs streaming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21A06-D892-4EE4-7984-AE1D63212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batch → </a:t>
            </a:r>
            <a:r>
              <a:rPr lang="en-US" dirty="0" err="1">
                <a:ea typeface="+mn-lt"/>
                <a:cs typeface="+mn-lt"/>
              </a:rPr>
              <a:t>przetwarzanie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okresowe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streaming → near real-time. W </a:t>
            </a:r>
            <a:r>
              <a:rPr lang="en-US" dirty="0" err="1">
                <a:ea typeface="+mn-lt"/>
                <a:cs typeface="+mn-lt"/>
              </a:rPr>
              <a:t>tym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celu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przydają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się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  <a:hlinkClick r:id="rId2"/>
              </a:rPr>
              <a:t>tabele</a:t>
            </a:r>
            <a:r>
              <a:rPr lang="en-US" dirty="0">
                <a:ea typeface="+mn-lt"/>
                <a:cs typeface="+mn-lt"/>
                <a:hlinkClick r:id="rId2"/>
              </a:rPr>
              <a:t> </a:t>
            </a:r>
            <a:r>
              <a:rPr lang="en-US" dirty="0" err="1">
                <a:ea typeface="+mn-lt"/>
                <a:cs typeface="+mn-lt"/>
                <a:hlinkClick r:id="rId2"/>
              </a:rPr>
              <a:t>typu</a:t>
            </a:r>
            <a:r>
              <a:rPr lang="en-US" dirty="0">
                <a:ea typeface="+mn-lt"/>
                <a:cs typeface="+mn-lt"/>
                <a:hlinkClick r:id="rId2"/>
              </a:rPr>
              <a:t> STREAMING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504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7409-2454-BEBD-10B9-BE4AB3837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Architektura medalionowa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9677A-E868-8CD6-6DD3-0FCCF3732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Bronze → </a:t>
            </a:r>
            <a:r>
              <a:rPr lang="en-US" dirty="0" err="1">
                <a:ea typeface="+mn-lt"/>
                <a:cs typeface="+mn-lt"/>
              </a:rPr>
              <a:t>surowe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dane</a:t>
            </a:r>
            <a:endParaRPr lang="en-US" dirty="0"/>
          </a:p>
          <a:p>
            <a:endParaRPr lang="en-US"/>
          </a:p>
          <a:p>
            <a:r>
              <a:rPr lang="en-US" dirty="0">
                <a:ea typeface="+mn-lt"/>
                <a:cs typeface="+mn-lt"/>
              </a:rPr>
              <a:t>Silver → </a:t>
            </a:r>
            <a:r>
              <a:rPr lang="en-US" dirty="0" err="1">
                <a:ea typeface="+mn-lt"/>
                <a:cs typeface="+mn-lt"/>
              </a:rPr>
              <a:t>oczyszczone</a:t>
            </a:r>
            <a:endParaRPr lang="en-US" dirty="0" err="1"/>
          </a:p>
          <a:p>
            <a:endParaRPr lang="en-US"/>
          </a:p>
          <a:p>
            <a:r>
              <a:rPr lang="en-US" dirty="0">
                <a:ea typeface="+mn-lt"/>
                <a:cs typeface="+mn-lt"/>
              </a:rPr>
              <a:t>Gold → </a:t>
            </a:r>
            <a:r>
              <a:rPr lang="en-US" dirty="0" err="1">
                <a:ea typeface="+mn-lt"/>
                <a:cs typeface="+mn-lt"/>
              </a:rPr>
              <a:t>agregaty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1762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CC8CB-F904-A354-07E1-00DFFA948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228600" indent="-228600">
              <a:spcBef>
                <a:spcPts val="1000"/>
              </a:spcBef>
            </a:pPr>
            <a:r>
              <a:rPr lang="en-US" dirty="0" err="1">
                <a:latin typeface="Aptos"/>
                <a:hlinkClick r:id="rId2"/>
              </a:rPr>
              <a:t>Pipeline'y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B911F-79B7-2573-4E8F-9CD41CDAD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Zadanie</a:t>
            </a:r>
            <a:r>
              <a:rPr lang="en-US" dirty="0"/>
              <a:t>: </a:t>
            </a:r>
            <a:r>
              <a:rPr lang="en-US" dirty="0" err="1"/>
              <a:t>stwórz</a:t>
            </a:r>
            <a:r>
              <a:rPr lang="en-US" dirty="0"/>
              <a:t> pipeline, </a:t>
            </a:r>
            <a:r>
              <a:rPr lang="en-US" dirty="0" err="1"/>
              <a:t>który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podstawie</a:t>
            </a:r>
            <a:r>
              <a:rPr lang="en-US" dirty="0"/>
              <a:t> </a:t>
            </a:r>
            <a:r>
              <a:rPr lang="en-US" dirty="0" err="1"/>
              <a:t>danych</a:t>
            </a:r>
            <a:r>
              <a:rPr lang="en-US" dirty="0"/>
              <a:t> </a:t>
            </a:r>
            <a:r>
              <a:rPr lang="en-US" dirty="0" err="1"/>
              <a:t>zawartych</a:t>
            </a:r>
            <a:r>
              <a:rPr lang="en-US" dirty="0"/>
              <a:t> w </a:t>
            </a:r>
            <a:r>
              <a:rPr lang="en-US" dirty="0" err="1"/>
              <a:t>samples.bakehouse</a:t>
            </a:r>
            <a:r>
              <a:rPr lang="en-US" dirty="0"/>
              <a:t> </a:t>
            </a:r>
            <a:r>
              <a:rPr lang="en-US" dirty="0" err="1"/>
              <a:t>przygotuje</a:t>
            </a:r>
            <a:r>
              <a:rPr lang="en-US" dirty="0"/>
              <a:t> </a:t>
            </a:r>
            <a:r>
              <a:rPr lang="en-US" dirty="0" err="1"/>
              <a:t>dane</a:t>
            </a:r>
            <a:r>
              <a:rPr lang="en-US" dirty="0"/>
              <a:t> w </a:t>
            </a:r>
            <a:r>
              <a:rPr lang="en-US" dirty="0" err="1"/>
              <a:t>warstwach</a:t>
            </a:r>
            <a:r>
              <a:rPr lang="en-US" dirty="0"/>
              <a:t> bronze, silver, gold. </a:t>
            </a:r>
            <a:r>
              <a:rPr lang="en-US" dirty="0" err="1"/>
              <a:t>Wykorzystaj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AI. </a:t>
            </a:r>
            <a:r>
              <a:rPr lang="en-US" dirty="0" err="1"/>
              <a:t>Sprawdź</a:t>
            </a:r>
            <a:r>
              <a:rPr lang="en-US" dirty="0"/>
              <a:t> co </a:t>
            </a:r>
            <a:r>
              <a:rPr lang="en-US" dirty="0" err="1"/>
              <a:t>zostało</a:t>
            </a:r>
            <a:r>
              <a:rPr lang="en-US" dirty="0"/>
              <a:t> </a:t>
            </a:r>
            <a:r>
              <a:rPr lang="en-US" dirty="0" err="1"/>
              <a:t>utworzone</a:t>
            </a:r>
            <a:r>
              <a:rPr lang="en-US" dirty="0"/>
              <a:t>. Odpowiedz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pytania</a:t>
            </a:r>
            <a:r>
              <a:rPr lang="en-US" dirty="0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Jakie </a:t>
            </a:r>
            <a:r>
              <a:rPr lang="en-US" dirty="0" err="1"/>
              <a:t>elementy</a:t>
            </a:r>
            <a:r>
              <a:rPr lang="en-US" dirty="0"/>
              <a:t> </a:t>
            </a:r>
            <a:r>
              <a:rPr lang="en-US" dirty="0" err="1"/>
              <a:t>standaryzacji</a:t>
            </a:r>
            <a:r>
              <a:rPr lang="en-US" dirty="0"/>
              <a:t> 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warstwie</a:t>
            </a:r>
            <a:r>
              <a:rPr lang="en-US" dirty="0"/>
              <a:t> silver </a:t>
            </a:r>
            <a:r>
              <a:rPr lang="en-US" dirty="0" err="1"/>
              <a:t>zostały</a:t>
            </a:r>
            <a:r>
              <a:rPr lang="en-US" dirty="0"/>
              <a:t> </a:t>
            </a:r>
            <a:r>
              <a:rPr lang="en-US" dirty="0" err="1"/>
              <a:t>zaproponowane</a:t>
            </a:r>
            <a:r>
              <a:rPr lang="en-US" dirty="0"/>
              <a:t> </a:t>
            </a:r>
            <a:r>
              <a:rPr lang="en-US" dirty="0" err="1"/>
              <a:t>przez</a:t>
            </a:r>
            <a:r>
              <a:rPr lang="en-US" dirty="0"/>
              <a:t> Genie?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Jakie </a:t>
            </a:r>
            <a:r>
              <a:rPr lang="en-US" dirty="0" err="1"/>
              <a:t>dane</a:t>
            </a:r>
            <a:r>
              <a:rPr lang="en-US" dirty="0"/>
              <a:t> 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warstwie</a:t>
            </a:r>
            <a:r>
              <a:rPr lang="en-US" dirty="0"/>
              <a:t> silver agent AI </a:t>
            </a:r>
            <a:r>
              <a:rPr lang="en-US" dirty="0" err="1"/>
              <a:t>uznał</a:t>
            </a:r>
            <a:r>
              <a:rPr lang="en-US" dirty="0"/>
              <a:t> za </a:t>
            </a:r>
            <a:r>
              <a:rPr lang="en-US" dirty="0" err="1"/>
              <a:t>warte</a:t>
            </a:r>
            <a:r>
              <a:rPr lang="en-US" dirty="0"/>
              <a:t> </a:t>
            </a:r>
            <a:r>
              <a:rPr lang="en-US" dirty="0" err="1"/>
              <a:t>wzbogacenia</a:t>
            </a:r>
            <a:r>
              <a:rPr lang="en-US" dirty="0"/>
              <a:t>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Jakie </a:t>
            </a:r>
            <a:r>
              <a:rPr lang="en-US" dirty="0" err="1"/>
              <a:t>agregacje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warstwie</a:t>
            </a:r>
            <a:r>
              <a:rPr lang="en-US" dirty="0"/>
              <a:t> gold </a:t>
            </a:r>
            <a:r>
              <a:rPr lang="en-US" dirty="0" err="1"/>
              <a:t>sztuczna</a:t>
            </a:r>
            <a:r>
              <a:rPr lang="en-US" dirty="0"/>
              <a:t> </a:t>
            </a:r>
            <a:r>
              <a:rPr lang="en-US" dirty="0" err="1"/>
              <a:t>integligencja</a:t>
            </a:r>
            <a:r>
              <a:rPr lang="en-US" dirty="0"/>
              <a:t> </a:t>
            </a:r>
            <a:r>
              <a:rPr lang="en-US" dirty="0" err="1"/>
              <a:t>uznała</a:t>
            </a:r>
            <a:r>
              <a:rPr lang="en-US" dirty="0"/>
              <a:t> za </a:t>
            </a:r>
            <a:r>
              <a:rPr lang="en-US" dirty="0" err="1"/>
              <a:t>warte</a:t>
            </a:r>
            <a:r>
              <a:rPr lang="en-US" dirty="0"/>
              <a:t> </a:t>
            </a:r>
            <a:r>
              <a:rPr lang="en-US" dirty="0" err="1"/>
              <a:t>przeliczenia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8574546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C7691-C977-D96F-FE56-2787016AD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Elementy</a:t>
            </a:r>
            <a:r>
              <a:rPr lang="en-US" dirty="0"/>
              <a:t> </a:t>
            </a:r>
            <a:r>
              <a:rPr lang="en-US" dirty="0" err="1"/>
              <a:t>monitoringu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8C8F1-1085-1C25-C6C6-F611FDA57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71500" indent="-571500">
              <a:spcBef>
                <a:spcPct val="0"/>
              </a:spcBef>
            </a:pPr>
            <a:r>
              <a:rPr lang="en-US" sz="4400" dirty="0" err="1">
                <a:latin typeface="Aptos Display"/>
                <a:hlinkClick r:id="rId2"/>
              </a:rPr>
              <a:t>Dashboardy</a:t>
            </a:r>
            <a:endParaRPr lang="en-US" err="1">
              <a:latin typeface="Aptos" panose="020B0004020202020204"/>
            </a:endParaRPr>
          </a:p>
          <a:p>
            <a:pPr marL="571500" indent="-571500">
              <a:spcBef>
                <a:spcPct val="0"/>
              </a:spcBef>
            </a:pPr>
            <a:r>
              <a:rPr lang="en-US" sz="4400" dirty="0" err="1">
                <a:latin typeface="Aptos Display"/>
                <a:hlinkClick r:id="rId3"/>
              </a:rPr>
              <a:t>Alerty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259513377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Motyw pakietu Office</vt:lpstr>
      <vt:lpstr>Platforma Databricks</vt:lpstr>
      <vt:lpstr>Warunki zaliczenia</vt:lpstr>
      <vt:lpstr>Wprowadzenie do platformy Databricks</vt:lpstr>
      <vt:lpstr>Architektura Databricks</vt:lpstr>
      <vt:lpstr>Zakładamy konta</vt:lpstr>
      <vt:lpstr>Omówienie interfejsu</vt:lpstr>
      <vt:lpstr>Podstawy pracy z notebookami</vt:lpstr>
      <vt:lpstr>Notebook Podstawy pracy z notebookami</vt:lpstr>
      <vt:lpstr>Apache Spark</vt:lpstr>
      <vt:lpstr>PySpark</vt:lpstr>
      <vt:lpstr>Notebook Zadania pyspark</vt:lpstr>
      <vt:lpstr>Spark SQL</vt:lpstr>
      <vt:lpstr>UDF</vt:lpstr>
      <vt:lpstr>Praca z Delta Lake</vt:lpstr>
      <vt:lpstr>Notebook Delta Lake features</vt:lpstr>
      <vt:lpstr>Joby</vt:lpstr>
      <vt:lpstr>Zadanie</vt:lpstr>
      <vt:lpstr>Przetwarzanie Batch vs streaming</vt:lpstr>
      <vt:lpstr>Architektura medalionowa</vt:lpstr>
      <vt:lpstr>Pipeline'y</vt:lpstr>
      <vt:lpstr>Elementy monitoringu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31</cp:revision>
  <dcterms:created xsi:type="dcterms:W3CDTF">2026-03-28T21:28:10Z</dcterms:created>
  <dcterms:modified xsi:type="dcterms:W3CDTF">2026-05-09T12:56:56Z</dcterms:modified>
</cp:coreProperties>
</file>