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5" r:id="rId11"/>
    <p:sldId id="280" r:id="rId12"/>
    <p:sldId id="266" r:id="rId13"/>
    <p:sldId id="281" r:id="rId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D12965-9757-A3EB-6692-BD3B8328738F}" v="19" dt="2026-04-25T05:55:16.015"/>
    <p1510:client id="{D2155973-B2BE-F126-006D-25FB4BD798C3}" v="265" dt="2026-04-25T05:51:49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24.04.2026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bricks.com/blog/what-is-unified-analytics" TargetMode="External"/><Relationship Id="rId2" Type="http://schemas.openxmlformats.org/officeDocument/2006/relationships/hyperlink" Target="https://www.databricks.com/blog/what-is-data-lakehous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arn.microsoft.com/pl-pl/azure/databricks/repo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atabricks.com/aws/en/getting-started/high-level-architectur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databricks.com/signup?dbx_source=www&amp;itm_data=dbx-web-nav&amp;l=en-EN&amp;itm_source=www&amp;itm_category=home&amp;itm_page=home&amp;itm_location=nav&amp;itm_component=menu-area&amp;itm_offer=signup&#8203;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atabricks.com/aws/en/getting-started/concept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atabricks.com/aws/en/notebook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atabricks.com/aws/en/spark/faq" TargetMode="External"/><Relationship Id="rId2" Type="http://schemas.openxmlformats.org/officeDocument/2006/relationships/hyperlink" Target="https://spark.apache.org/docs/latest/cluster-overview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atabricks.com/aws/en/pyspark/basics&#8203;" TargetMode="External"/><Relationship Id="rId2" Type="http://schemas.openxmlformats.org/officeDocument/2006/relationships/hyperlink" Target="https://docs.databricks.com/aws/en/getting-started/dataframes#run-an-arbitrary-sql-query-using-sparksql-function%E2%80%8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databricks.com/aws/en/pyspark/basic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atabricks.com/aws/en/sql/language-manual/functions/read_files" TargetMode="External"/><Relationship Id="rId2" Type="http://schemas.openxmlformats.org/officeDocument/2006/relationships/hyperlink" Target="https://www.databricks.com/blog/what-is-spark-sq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Platforma Databricks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Bartosz Fijałkowski, UAM, 2026</a:t>
            </a: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32C2-1915-5917-D69B-238D72F7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Warunki</a:t>
            </a:r>
            <a:r>
              <a:rPr lang="en-US"/>
              <a:t> </a:t>
            </a:r>
            <a:r>
              <a:rPr lang="en-US" err="1"/>
              <a:t>zaliczenia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55BA3-BA41-1023-8C8B-C3AE78008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Wymagana</a:t>
            </a:r>
            <a:r>
              <a:rPr lang="en-US"/>
              <a:t> jest </a:t>
            </a:r>
            <a:r>
              <a:rPr lang="en-US" err="1"/>
              <a:t>wiedza</a:t>
            </a:r>
            <a:r>
              <a:rPr lang="en-US"/>
              <a:t> z </a:t>
            </a:r>
            <a:r>
              <a:rPr lang="en-US" err="1"/>
              <a:t>podlinkowanej</a:t>
            </a:r>
            <a:r>
              <a:rPr lang="en-US"/>
              <a:t> </a:t>
            </a:r>
            <a:r>
              <a:rPr lang="en-US" err="1"/>
              <a:t>dokumentacji</a:t>
            </a:r>
            <a:r>
              <a:rPr lang="en-US"/>
              <a:t> Databricks.</a:t>
            </a:r>
          </a:p>
          <a:p>
            <a:r>
              <a:rPr lang="en-US"/>
              <a:t>Na </a:t>
            </a:r>
            <a:r>
              <a:rPr lang="en-US" err="1"/>
              <a:t>zaliczenie</a:t>
            </a:r>
            <a:r>
              <a:rPr lang="en-US"/>
              <a:t>: </a:t>
            </a:r>
            <a:r>
              <a:rPr lang="en-US" err="1">
                <a:ea typeface="+mn-lt"/>
                <a:cs typeface="+mn-lt"/>
              </a:rPr>
              <a:t>Budowa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pipeline’u</a:t>
            </a:r>
            <a:r>
              <a:rPr lang="en-US">
                <a:ea typeface="+mn-lt"/>
                <a:cs typeface="+mn-lt"/>
              </a:rPr>
              <a:t> Bronze → Silver → Gold </a:t>
            </a:r>
            <a:r>
              <a:rPr lang="en-US" err="1">
                <a:ea typeface="+mn-lt"/>
                <a:cs typeface="+mn-lt"/>
              </a:rPr>
              <a:t>oraz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dashboardów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prezentujących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dane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Wykorzystanie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każdej</a:t>
            </a:r>
            <a:r>
              <a:rPr lang="en-US">
                <a:ea typeface="+mn-lt"/>
                <a:cs typeface="+mn-lt"/>
              </a:rPr>
              <a:t> z </a:t>
            </a:r>
            <a:r>
              <a:rPr lang="en-US" err="1">
                <a:ea typeface="+mn-lt"/>
                <a:cs typeface="+mn-lt"/>
              </a:rPr>
              <a:t>umiejętności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poznanych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zajęciach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 err="1"/>
              <a:t>Zaliczamy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ostatnich</a:t>
            </a:r>
            <a:r>
              <a:rPr lang="en-US"/>
              <a:t> </a:t>
            </a:r>
            <a:r>
              <a:rPr lang="en-US" err="1"/>
              <a:t>zajęciach</a:t>
            </a:r>
            <a:r>
              <a:rPr lang="en-US"/>
              <a:t> </a:t>
            </a:r>
            <a:r>
              <a:rPr lang="en-US" err="1"/>
              <a:t>przygotowując</a:t>
            </a:r>
            <a:r>
              <a:rPr lang="en-US"/>
              <a:t> </a:t>
            </a:r>
            <a:r>
              <a:rPr lang="en-US" err="1"/>
              <a:t>projekt</a:t>
            </a:r>
            <a:r>
              <a:rPr lang="en-US"/>
              <a:t> w </a:t>
            </a:r>
            <a:r>
              <a:rPr lang="en-US" err="1"/>
              <a:t>grupach</a:t>
            </a:r>
            <a:r>
              <a:rPr lang="en-US"/>
              <a:t> 3-osobowych.</a:t>
            </a:r>
          </a:p>
          <a:p>
            <a:r>
              <a:rPr lang="en-US" err="1"/>
              <a:t>Ocena</a:t>
            </a:r>
            <a:r>
              <a:rPr lang="en-US"/>
              <a:t> </a:t>
            </a:r>
            <a:r>
              <a:rPr lang="en-US" err="1"/>
              <a:t>wspólna</a:t>
            </a:r>
            <a:r>
              <a:rPr lang="en-US"/>
              <a:t> za </a:t>
            </a:r>
            <a:r>
              <a:rPr lang="en-US" err="1"/>
              <a:t>złożoność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jakość</a:t>
            </a:r>
            <a:r>
              <a:rPr lang="en-US"/>
              <a:t> </a:t>
            </a:r>
            <a:r>
              <a:rPr lang="en-US" err="1"/>
              <a:t>projektu</a:t>
            </a:r>
            <a:r>
              <a:rPr lang="en-US"/>
              <a:t>, </a:t>
            </a:r>
            <a:r>
              <a:rPr lang="en-US" err="1"/>
              <a:t>liczbę</a:t>
            </a:r>
            <a:r>
              <a:rPr lang="en-US"/>
              <a:t> </a:t>
            </a:r>
            <a:r>
              <a:rPr lang="en-US" err="1"/>
              <a:t>pokrytych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zajęciach</a:t>
            </a:r>
            <a:r>
              <a:rPr lang="en-US"/>
              <a:t> </a:t>
            </a:r>
            <a:r>
              <a:rPr lang="en-US" err="1"/>
              <a:t>wątków</a:t>
            </a:r>
            <a:r>
              <a:rPr lang="en-US"/>
              <a:t>, </a:t>
            </a:r>
            <a:r>
              <a:rPr lang="en-US" err="1"/>
              <a:t>odpowiedź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pytania</a:t>
            </a:r>
            <a:r>
              <a:rPr lang="en-US"/>
              <a:t> </a:t>
            </a:r>
            <a:r>
              <a:rPr lang="en-US" err="1"/>
              <a:t>prowadzącego</a:t>
            </a:r>
            <a:r>
              <a:rPr lang="en-US"/>
              <a:t> w </a:t>
            </a:r>
            <a:r>
              <a:rPr lang="en-US" err="1"/>
              <a:t>trakcie</a:t>
            </a:r>
            <a:r>
              <a:rPr lang="en-US"/>
              <a:t> prezentacji.</a:t>
            </a:r>
          </a:p>
        </p:txBody>
      </p:sp>
    </p:spTree>
    <p:extLst>
      <p:ext uri="{BB962C8B-B14F-4D97-AF65-F5344CB8AC3E}">
        <p14:creationId xmlns:p14="http://schemas.microsoft.com/office/powerpoint/2010/main" val="3924383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CEC8-9AA4-B04A-C31D-661063AF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Wprowadzenie</a:t>
            </a:r>
            <a:r>
              <a:rPr lang="en-US"/>
              <a:t> do platformy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E5E80-7E15-1728-A3E8-2829FE2B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Data Lakehouse = Data Lake + Data Warehouse</a:t>
            </a:r>
          </a:p>
          <a:p>
            <a:r>
              <a:rPr lang="en-US">
                <a:ea typeface="+mn-lt"/>
                <a:cs typeface="+mn-lt"/>
                <a:hlinkClick r:id="rId3"/>
              </a:rPr>
              <a:t>Unified Analytics (Data Engineering + Data Science + BI + Machine </a:t>
            </a:r>
            <a:r>
              <a:rPr lang="en-US" err="1">
                <a:ea typeface="+mn-lt"/>
                <a:cs typeface="+mn-lt"/>
                <a:hlinkClick r:id="rId3"/>
              </a:rPr>
              <a:t>Learing</a:t>
            </a:r>
            <a:r>
              <a:rPr lang="en-US">
                <a:ea typeface="+mn-lt"/>
                <a:cs typeface="+mn-lt"/>
                <a:hlinkClick r:id="rId3"/>
              </a:rPr>
              <a:t>)</a:t>
            </a:r>
          </a:p>
          <a:p>
            <a:r>
              <a:rPr lang="en-US" err="1"/>
              <a:t>Optymalna</a:t>
            </a:r>
            <a:r>
              <a:rPr lang="en-US"/>
              <a:t> </a:t>
            </a:r>
            <a:r>
              <a:rPr lang="en-US" err="1"/>
              <a:t>praca</a:t>
            </a:r>
            <a:r>
              <a:rPr lang="en-US"/>
              <a:t> z </a:t>
            </a:r>
            <a:r>
              <a:rPr lang="en-US" err="1"/>
              <a:t>danymi</a:t>
            </a:r>
            <a:r>
              <a:rPr lang="en-US"/>
              <a:t> </a:t>
            </a:r>
            <a:r>
              <a:rPr lang="en-US" err="1"/>
              <a:t>dzięki</a:t>
            </a:r>
            <a:r>
              <a:rPr lang="en-US"/>
              <a:t> </a:t>
            </a:r>
            <a:r>
              <a:rPr lang="en-US" err="1"/>
              <a:t>samemu</a:t>
            </a:r>
            <a:r>
              <a:rPr lang="en-US"/>
              <a:t> </a:t>
            </a:r>
            <a:r>
              <a:rPr lang="en-US" err="1"/>
              <a:t>oprogramowaniu</a:t>
            </a:r>
            <a:r>
              <a:rPr lang="en-US"/>
              <a:t>, jak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inteligentnego</a:t>
            </a:r>
            <a:r>
              <a:rPr lang="en-US"/>
              <a:t> </a:t>
            </a:r>
            <a:r>
              <a:rPr lang="en-US" err="1"/>
              <a:t>wykorzystania</a:t>
            </a:r>
            <a:r>
              <a:rPr lang="en-US"/>
              <a:t> </a:t>
            </a:r>
            <a:r>
              <a:rPr lang="en-US" err="1"/>
              <a:t>chmury</a:t>
            </a:r>
            <a:r>
              <a:rPr lang="en-US"/>
              <a:t> pod </a:t>
            </a:r>
            <a:r>
              <a:rPr lang="en-US" err="1"/>
              <a:t>kątem</a:t>
            </a:r>
            <a:r>
              <a:rPr lang="en-US"/>
              <a:t> </a:t>
            </a:r>
            <a:r>
              <a:rPr lang="en-US" err="1"/>
              <a:t>zarządzania</a:t>
            </a:r>
            <a:r>
              <a:rPr lang="en-US"/>
              <a:t> </a:t>
            </a:r>
            <a:r>
              <a:rPr lang="en-US" err="1"/>
              <a:t>mocą</a:t>
            </a:r>
            <a:r>
              <a:rPr lang="en-US"/>
              <a:t> </a:t>
            </a:r>
            <a:r>
              <a:rPr lang="en-US" err="1"/>
              <a:t>obliczeniową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przestrzenią</a:t>
            </a:r>
            <a:r>
              <a:rPr lang="en-US"/>
              <a:t> </a:t>
            </a:r>
            <a:r>
              <a:rPr lang="en-US" err="1"/>
              <a:t>dyskową</a:t>
            </a:r>
            <a:r>
              <a:rPr lang="en-US"/>
              <a:t>.</a:t>
            </a:r>
          </a:p>
          <a:p>
            <a:r>
              <a:rPr lang="en-US" err="1"/>
              <a:t>Jednolite</a:t>
            </a:r>
            <a:r>
              <a:rPr lang="en-US"/>
              <a:t> </a:t>
            </a:r>
            <a:r>
              <a:rPr lang="en-US" err="1"/>
              <a:t>zarządzanie</a:t>
            </a:r>
            <a:r>
              <a:rPr lang="en-US"/>
              <a:t> </a:t>
            </a:r>
            <a:r>
              <a:rPr lang="en-US" err="1"/>
              <a:t>uprawnieniami</a:t>
            </a:r>
            <a:r>
              <a:rPr lang="en-US"/>
              <a:t>.</a:t>
            </a:r>
          </a:p>
          <a:p>
            <a:r>
              <a:rPr lang="en-US" err="1">
                <a:hlinkClick r:id="rId4"/>
              </a:rPr>
              <a:t>Integracja</a:t>
            </a:r>
            <a:r>
              <a:rPr lang="en-US">
                <a:hlinkClick r:id="rId4"/>
              </a:rPr>
              <a:t> z </a:t>
            </a:r>
            <a:r>
              <a:rPr lang="en-US" err="1">
                <a:hlinkClick r:id="rId4"/>
              </a:rPr>
              <a:t>repozytoriami</a:t>
            </a:r>
            <a:r>
              <a:rPr lang="en-US">
                <a:hlinkClick r:id="rId4"/>
              </a:rPr>
              <a:t> </a:t>
            </a:r>
            <a:r>
              <a:rPr lang="en-US" err="1">
                <a:hlinkClick r:id="rId4"/>
              </a:rPr>
              <a:t>kodu</a:t>
            </a:r>
            <a:r>
              <a:rPr lang="en-US">
                <a:hlinkClick r:id="rId4"/>
              </a:rPr>
              <a:t>, CI/CD</a:t>
            </a:r>
            <a:r>
              <a:rPr lang="en-US"/>
              <a:t>.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6371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B81A-3507-DA28-B7D2-1CE55C4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Architektura</a:t>
            </a:r>
            <a:r>
              <a:rPr lang="en-US"/>
              <a:t>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2836C-D6A1-DB1C-EEAC-21AEF7D89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https://docs.databricks.com/aws/en/getting-started/high-level-architecture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BFE6A-1115-FD42-8C51-3C8F4877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Zakładamy konta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130873-10A5-FEE5-C70B-88BA71BBD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57594" y="1825625"/>
            <a:ext cx="92768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4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AC8C-E8E9-735D-419A-3D71C585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Omówienie</a:t>
            </a:r>
            <a:r>
              <a:rPr lang="en-US"/>
              <a:t> </a:t>
            </a:r>
            <a:r>
              <a:rPr lang="en-US" err="1"/>
              <a:t>interfejsu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3CEFE-726E-5F8B-BAF4-64DF05488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https://docs.databricks.com/aws/en/getting-started/concepts</a:t>
            </a:r>
            <a:endParaRPr lang="en-US"/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508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7E45-202C-C6E5-69CA-F937BB5A3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Podstawy</a:t>
            </a:r>
            <a:r>
              <a:rPr lang="en-US"/>
              <a:t> </a:t>
            </a:r>
            <a:r>
              <a:rPr lang="en-US" err="1"/>
              <a:t>pracy</a:t>
            </a:r>
            <a:r>
              <a:rPr lang="en-US"/>
              <a:t> z </a:t>
            </a:r>
            <a:r>
              <a:rPr lang="en-US" err="1"/>
              <a:t>notebookami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B5F2-CAD3-E75B-D11B-019C1193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https://docs.databricks.com/aws/en/notebooks/</a:t>
            </a:r>
            <a:endParaRPr lang="en-US">
              <a:ea typeface="+mn-lt"/>
              <a:cs typeface="+mn-lt"/>
            </a:endParaRPr>
          </a:p>
          <a:p>
            <a:r>
              <a:rPr lang="en-US" err="1"/>
              <a:t>Możemy</a:t>
            </a:r>
            <a:r>
              <a:rPr lang="en-US"/>
              <a:t> </a:t>
            </a:r>
            <a:r>
              <a:rPr lang="en-US" err="1"/>
              <a:t>pisać</a:t>
            </a:r>
            <a:r>
              <a:rPr lang="en-US"/>
              <a:t> w SQL, Python, Scala, R </a:t>
            </a:r>
            <a:r>
              <a:rPr lang="en-US" err="1"/>
              <a:t>stosując</a:t>
            </a:r>
            <a:r>
              <a:rPr lang="en-US"/>
              <a:t> magic commands %</a:t>
            </a:r>
            <a:r>
              <a:rPr lang="en-US" err="1"/>
              <a:t>sql</a:t>
            </a:r>
            <a:r>
              <a:rPr lang="en-US"/>
              <a:t>, %python, %scala, %r. W </a:t>
            </a:r>
            <a:r>
              <a:rPr lang="en-US" err="1"/>
              <a:t>darmowej</a:t>
            </a:r>
            <a:r>
              <a:rPr lang="en-US"/>
              <a:t> </a:t>
            </a:r>
            <a:r>
              <a:rPr lang="en-US" err="1"/>
              <a:t>wersji</a:t>
            </a:r>
            <a:r>
              <a:rPr lang="en-US"/>
              <a:t> </a:t>
            </a:r>
            <a:r>
              <a:rPr lang="en-US" err="1"/>
              <a:t>dostępne</a:t>
            </a:r>
            <a:r>
              <a:rPr lang="en-US"/>
              <a:t> </a:t>
            </a:r>
            <a:r>
              <a:rPr lang="en-US" err="1"/>
              <a:t>są</a:t>
            </a:r>
            <a:r>
              <a:rPr lang="en-US"/>
              <a:t> </a:t>
            </a:r>
            <a:r>
              <a:rPr lang="en-US" err="1"/>
              <a:t>tylko</a:t>
            </a:r>
            <a:r>
              <a:rPr lang="en-US"/>
              <a:t> </a:t>
            </a:r>
            <a:r>
              <a:rPr lang="en-US" err="1"/>
              <a:t>pierwsze</a:t>
            </a:r>
            <a:r>
              <a:rPr lang="en-US"/>
              <a:t> </a:t>
            </a:r>
            <a:r>
              <a:rPr lang="en-US" err="1"/>
              <a:t>dwa</a:t>
            </a:r>
            <a:r>
              <a:rPr lang="en-US"/>
              <a:t>. </a:t>
            </a:r>
            <a:r>
              <a:rPr lang="en-US" err="1"/>
              <a:t>Dostępny</a:t>
            </a:r>
            <a:r>
              <a:rPr lang="en-US"/>
              <a:t> jest Markdown za </a:t>
            </a:r>
            <a:r>
              <a:rPr lang="en-US" err="1"/>
              <a:t>pomocą</a:t>
            </a:r>
            <a:r>
              <a:rPr lang="en-US"/>
              <a:t> %</a:t>
            </a:r>
            <a:r>
              <a:rPr lang="en-US" err="1"/>
              <a:t>md.</a:t>
            </a:r>
            <a:endParaRPr lang="en-US"/>
          </a:p>
          <a:p>
            <a:r>
              <a:rPr lang="en-US" err="1"/>
              <a:t>Możemy</a:t>
            </a:r>
            <a:r>
              <a:rPr lang="en-US"/>
              <a:t> </a:t>
            </a:r>
            <a:r>
              <a:rPr lang="en-US" err="1"/>
              <a:t>uruchomić</a:t>
            </a:r>
            <a:r>
              <a:rPr lang="en-US"/>
              <a:t> </a:t>
            </a:r>
            <a:r>
              <a:rPr lang="en-US" err="1"/>
              <a:t>tylko</a:t>
            </a:r>
            <a:r>
              <a:rPr lang="en-US"/>
              <a:t> </a:t>
            </a:r>
            <a:r>
              <a:rPr lang="en-US" err="1"/>
              <a:t>jeden</a:t>
            </a:r>
            <a:r>
              <a:rPr lang="en-US"/>
              <a:t> fragment </a:t>
            </a:r>
            <a:r>
              <a:rPr lang="en-US" err="1"/>
              <a:t>zamiast</a:t>
            </a:r>
            <a:r>
              <a:rPr lang="en-US"/>
              <a:t> </a:t>
            </a:r>
            <a:r>
              <a:rPr lang="en-US" err="1"/>
              <a:t>całości</a:t>
            </a:r>
            <a:r>
              <a:rPr lang="en-US"/>
              <a:t>. </a:t>
            </a:r>
            <a:r>
              <a:rPr lang="en-US" err="1"/>
              <a:t>Widzimy</a:t>
            </a:r>
            <a:r>
              <a:rPr lang="en-US"/>
              <a:t> output </a:t>
            </a:r>
            <a:r>
              <a:rPr lang="en-US" err="1"/>
              <a:t>dla</a:t>
            </a:r>
            <a:r>
              <a:rPr lang="en-US"/>
              <a:t> </a:t>
            </a:r>
            <a:r>
              <a:rPr lang="en-US" err="1"/>
              <a:t>tego</a:t>
            </a:r>
            <a:r>
              <a:rPr lang="en-US"/>
              <a:t> </a:t>
            </a:r>
            <a:r>
              <a:rPr lang="en-US" err="1"/>
              <a:t>fragmentu</a:t>
            </a:r>
            <a:r>
              <a:rPr lang="en-US"/>
              <a:t> </a:t>
            </a:r>
            <a:r>
              <a:rPr lang="en-US" err="1"/>
              <a:t>zamiast</a:t>
            </a:r>
            <a:r>
              <a:rPr lang="en-US"/>
              <a:t> </a:t>
            </a:r>
            <a:r>
              <a:rPr lang="en-US" err="1"/>
              <a:t>często</a:t>
            </a:r>
            <a:r>
              <a:rPr lang="en-US"/>
              <a:t> </a:t>
            </a:r>
            <a:r>
              <a:rPr lang="en-US" err="1"/>
              <a:t>niepotrzebnej</a:t>
            </a:r>
            <a:r>
              <a:rPr lang="en-US"/>
              <a:t> </a:t>
            </a:r>
            <a:r>
              <a:rPr lang="en-US" err="1"/>
              <a:t>całości</a:t>
            </a:r>
            <a:r>
              <a:rPr lang="en-US"/>
              <a:t>.</a:t>
            </a:r>
          </a:p>
          <a:p>
            <a:r>
              <a:rPr lang="en-US"/>
              <a:t>Output </a:t>
            </a:r>
            <a:r>
              <a:rPr lang="en-US" err="1"/>
              <a:t>dla</a:t>
            </a:r>
            <a:r>
              <a:rPr lang="en-US"/>
              <a:t> </a:t>
            </a:r>
            <a:r>
              <a:rPr lang="en-US" err="1"/>
              <a:t>uruchomionego</a:t>
            </a:r>
            <a:r>
              <a:rPr lang="en-US"/>
              <a:t> </a:t>
            </a:r>
            <a:r>
              <a:rPr lang="en-US" err="1"/>
              <a:t>bloku</a:t>
            </a:r>
            <a:r>
              <a:rPr lang="en-US"/>
              <a:t> </a:t>
            </a:r>
            <a:r>
              <a:rPr lang="en-US" err="1"/>
              <a:t>kodu</a:t>
            </a:r>
            <a:r>
              <a:rPr lang="en-US"/>
              <a:t> </a:t>
            </a:r>
            <a:r>
              <a:rPr lang="en-US" err="1"/>
              <a:t>pozostaje</a:t>
            </a:r>
            <a:r>
              <a:rPr lang="en-US"/>
              <a:t> do </a:t>
            </a:r>
            <a:r>
              <a:rPr lang="en-US" err="1"/>
              <a:t>czasu</a:t>
            </a:r>
            <a:r>
              <a:rPr lang="en-US"/>
              <a:t> </a:t>
            </a:r>
            <a:r>
              <a:rPr lang="en-US" err="1"/>
              <a:t>kolejnego</a:t>
            </a:r>
            <a:r>
              <a:rPr lang="en-US"/>
              <a:t> </a:t>
            </a:r>
            <a:r>
              <a:rPr lang="en-US" err="1"/>
              <a:t>uruchomienia</a:t>
            </a:r>
            <a:r>
              <a:rPr lang="en-US"/>
              <a:t> </a:t>
            </a:r>
            <a:r>
              <a:rPr lang="en-US" err="1"/>
              <a:t>tego</a:t>
            </a:r>
            <a:r>
              <a:rPr lang="en-US"/>
              <a:t> </a:t>
            </a:r>
            <a:r>
              <a:rPr lang="en-US" err="1"/>
              <a:t>bloku</a:t>
            </a:r>
            <a:r>
              <a:rPr lang="en-US"/>
              <a:t>.</a:t>
            </a:r>
          </a:p>
          <a:p>
            <a:r>
              <a:rPr lang="en-US" err="1"/>
              <a:t>Notebooki</a:t>
            </a:r>
            <a:r>
              <a:rPr lang="en-US"/>
              <a:t> </a:t>
            </a:r>
            <a:r>
              <a:rPr lang="en-US" err="1"/>
              <a:t>są</a:t>
            </a:r>
            <a:r>
              <a:rPr lang="en-US"/>
              <a:t> </a:t>
            </a:r>
            <a:r>
              <a:rPr lang="en-US" err="1"/>
              <a:t>wersjonowane</a:t>
            </a:r>
            <a:r>
              <a:rPr lang="en-US"/>
              <a:t>.</a:t>
            </a:r>
          </a:p>
          <a:p>
            <a:r>
              <a:rPr lang="en-US" err="1"/>
              <a:t>Możemy</a:t>
            </a:r>
            <a:r>
              <a:rPr lang="en-US"/>
              <a:t> </a:t>
            </a:r>
            <a:r>
              <a:rPr lang="en-US" err="1"/>
              <a:t>podejrzeć</a:t>
            </a:r>
            <a:r>
              <a:rPr lang="en-US"/>
              <a:t> </a:t>
            </a:r>
            <a:r>
              <a:rPr lang="en-US" err="1"/>
              <a:t>zmienne</a:t>
            </a:r>
            <a:r>
              <a:rPr lang="en-US"/>
              <a:t>.</a:t>
            </a:r>
          </a:p>
          <a:p>
            <a:r>
              <a:rPr lang="en-US"/>
              <a:t>Mamy </a:t>
            </a:r>
            <a:r>
              <a:rPr lang="en-US" err="1"/>
              <a:t>wsparcie</a:t>
            </a:r>
            <a:r>
              <a:rPr lang="en-US"/>
              <a:t> </a:t>
            </a:r>
            <a:r>
              <a:rPr lang="en-US">
                <a:ea typeface="+mn-lt"/>
                <a:cs typeface="+mn-lt"/>
              </a:rPr>
              <a:t>Genie Code (AI) - code completion, </a:t>
            </a:r>
            <a:r>
              <a:rPr lang="en-US" err="1">
                <a:ea typeface="+mn-lt"/>
                <a:cs typeface="+mn-lt"/>
              </a:rPr>
              <a:t>rozumienie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struktur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danych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można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się</a:t>
            </a:r>
            <a:r>
              <a:rPr lang="en-US">
                <a:ea typeface="+mn-lt"/>
                <a:cs typeface="+mn-lt"/>
              </a:rPr>
              <a:t> po </a:t>
            </a:r>
            <a:r>
              <a:rPr lang="en-US" err="1">
                <a:ea typeface="+mn-lt"/>
                <a:cs typeface="+mn-lt"/>
              </a:rPr>
              <a:t>prostu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zapytać</a:t>
            </a:r>
            <a:r>
              <a:rPr lang="en-US">
                <a:ea typeface="+mn-lt"/>
                <a:cs typeface="+mn-lt"/>
              </a:rPr>
              <a:t> o </a:t>
            </a:r>
            <a:r>
              <a:rPr lang="en-US" err="1">
                <a:ea typeface="+mn-lt"/>
                <a:cs typeface="+mn-lt"/>
              </a:rPr>
              <a:t>różne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rzeczy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18358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D9DE-A68E-2BDD-4369-18871C7F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Notebook </a:t>
            </a:r>
            <a:r>
              <a:rPr lang="en-US" err="1"/>
              <a:t>Podstawy</a:t>
            </a:r>
            <a:r>
              <a:rPr lang="en-US"/>
              <a:t> </a:t>
            </a:r>
            <a:r>
              <a:rPr lang="en-US" err="1"/>
              <a:t>pracy</a:t>
            </a:r>
            <a:r>
              <a:rPr lang="en-US"/>
              <a:t> z </a:t>
            </a:r>
            <a:r>
              <a:rPr lang="en-US" err="1"/>
              <a:t>notebookami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DEB5E-4AE2-3168-2A51-67F9B3140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1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64E3-CBA2-5F81-D8A5-79137DA7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Apache 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C3F3E-EDD5-7217-F033-B49193210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Apache Spark - </a:t>
            </a:r>
            <a:r>
              <a:rPr lang="en-US" err="1">
                <a:ea typeface="+mn-lt"/>
                <a:cs typeface="+mn-lt"/>
              </a:rPr>
              <a:t>opensourcowy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silnik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przetwarzania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danych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 err="1">
                <a:ea typeface="+mn-lt"/>
                <a:cs typeface="+mn-lt"/>
              </a:rPr>
              <a:t>Twórcy</a:t>
            </a:r>
            <a:r>
              <a:rPr lang="en-US">
                <a:ea typeface="+mn-lt"/>
                <a:cs typeface="+mn-lt"/>
              </a:rPr>
              <a:t> Apache Sparka to </a:t>
            </a:r>
            <a:r>
              <a:rPr lang="en-US" err="1">
                <a:ea typeface="+mn-lt"/>
                <a:cs typeface="+mn-lt"/>
              </a:rPr>
              <a:t>twórcy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Databricksa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 err="1">
                <a:ea typeface="+mn-lt"/>
                <a:cs typeface="+mn-lt"/>
              </a:rPr>
              <a:t>Architektura</a:t>
            </a:r>
            <a:r>
              <a:rPr lang="en-US">
                <a:ea typeface="+mn-lt"/>
                <a:cs typeface="+mn-lt"/>
              </a:rPr>
              <a:t> Spark: </a:t>
            </a:r>
            <a:r>
              <a:rPr lang="en-US">
                <a:ea typeface="+mn-lt"/>
                <a:cs typeface="+mn-lt"/>
                <a:hlinkClick r:id="rId2"/>
              </a:rPr>
              <a:t>https://spark.apache.org/docs/latest/cluster-overview.html</a:t>
            </a:r>
          </a:p>
          <a:p>
            <a:r>
              <a:rPr lang="en-US">
                <a:ea typeface="+mn-lt"/>
                <a:cs typeface="+mn-lt"/>
              </a:rPr>
              <a:t>Driver - </a:t>
            </a:r>
            <a:r>
              <a:rPr lang="en-US" err="1">
                <a:ea typeface="+mn-lt"/>
                <a:cs typeface="+mn-lt"/>
              </a:rPr>
              <a:t>rozdziela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zadania</a:t>
            </a:r>
            <a:r>
              <a:rPr lang="en-US">
                <a:ea typeface="+mn-lt"/>
                <a:cs typeface="+mn-lt"/>
              </a:rPr>
              <a:t> w </a:t>
            </a:r>
            <a:r>
              <a:rPr lang="en-US" err="1">
                <a:ea typeface="+mn-lt"/>
                <a:cs typeface="+mn-lt"/>
              </a:rPr>
              <a:t>ramach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jednego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procesu</a:t>
            </a:r>
            <a:r>
              <a:rPr lang="en-US">
                <a:ea typeface="+mn-lt"/>
                <a:cs typeface="+mn-lt"/>
              </a:rPr>
              <a:t>, executory - </a:t>
            </a:r>
            <a:r>
              <a:rPr lang="en-US" err="1">
                <a:ea typeface="+mn-lt"/>
                <a:cs typeface="+mn-lt"/>
              </a:rPr>
              <a:t>wykonują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zadania</a:t>
            </a:r>
            <a:r>
              <a:rPr lang="en-US">
                <a:ea typeface="+mn-lt"/>
                <a:cs typeface="+mn-lt"/>
              </a:rPr>
              <a:t>, cluster – </a:t>
            </a:r>
            <a:r>
              <a:rPr lang="en-US" err="1">
                <a:ea typeface="+mn-lt"/>
                <a:cs typeface="+mn-lt"/>
              </a:rPr>
              <a:t>drivery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executory, </a:t>
            </a:r>
            <a:r>
              <a:rPr lang="en-US" err="1">
                <a:ea typeface="+mn-lt"/>
                <a:cs typeface="+mn-lt"/>
              </a:rPr>
              <a:t>może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być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elastyczny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dzięki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databricksowi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który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może</a:t>
            </a:r>
            <a:r>
              <a:rPr lang="en-US">
                <a:ea typeface="+mn-lt"/>
                <a:cs typeface="+mn-lt"/>
              </a:rPr>
              <a:t> go doskalować.</a:t>
            </a:r>
          </a:p>
          <a:p>
            <a:r>
              <a:rPr lang="en-US">
                <a:ea typeface="+mn-lt"/>
                <a:cs typeface="+mn-lt"/>
                <a:hlinkClick r:id="rId3"/>
              </a:rPr>
              <a:t>https://docs.databricks.com/aws/en/spark/faq</a:t>
            </a:r>
          </a:p>
        </p:txBody>
      </p:sp>
    </p:spTree>
    <p:extLst>
      <p:ext uri="{BB962C8B-B14F-4D97-AF65-F5344CB8AC3E}">
        <p14:creationId xmlns:p14="http://schemas.microsoft.com/office/powerpoint/2010/main" val="98553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6E17-D3E8-2D22-6190-CFC32FCF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PySpark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A83B1-B6A5-AA15-5F1F-E3F280C4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hlinkClick r:id="rId2"/>
              </a:rPr>
              <a:t>Tutorial: Load and transform data using Apache Spark DataFrames</a:t>
            </a:r>
          </a:p>
          <a:p>
            <a:r>
              <a:rPr lang="en-US" dirty="0">
                <a:hlinkClick r:id="rId3"/>
              </a:rPr>
              <a:t>PySpark basics</a:t>
            </a:r>
            <a:endParaRPr lang="en-US">
              <a:ea typeface="+mn-lt"/>
              <a:cs typeface="+mn-lt"/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3161090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9CB9-263D-8A82-F0A8-4FC4919DC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</a:t>
            </a:r>
            <a:r>
              <a:rPr lang="en-US" dirty="0" err="1"/>
              <a:t>Zadania</a:t>
            </a:r>
            <a:r>
              <a:rPr lang="en-US" dirty="0"/>
              <a:t> </a:t>
            </a:r>
            <a:r>
              <a:rPr lang="en-US" dirty="0" err="1"/>
              <a:t>pyspark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9A14-AA9F-50B0-01BB-08E332E4C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72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4DE1F-986B-3C65-6456-AC23262F1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Spark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2C03-F965-9B05-5C7A-487819062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https://www.databricks.com/blog/what-is-spark-sql</a:t>
            </a:r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  <a:hlinkClick r:id="rId3"/>
              </a:rPr>
              <a:t>Można</a:t>
            </a:r>
            <a:r>
              <a:rPr lang="en-US" dirty="0">
                <a:ea typeface="+mn-lt"/>
                <a:cs typeface="+mn-lt"/>
                <a:hlinkClick r:id="rId3"/>
              </a:rPr>
              <a:t> </a:t>
            </a:r>
            <a:r>
              <a:rPr lang="en-US" dirty="0" err="1">
                <a:ea typeface="+mn-lt"/>
                <a:cs typeface="+mn-lt"/>
                <a:hlinkClick r:id="rId3"/>
              </a:rPr>
              <a:t>też</a:t>
            </a:r>
            <a:r>
              <a:rPr lang="en-US" dirty="0">
                <a:ea typeface="+mn-lt"/>
                <a:cs typeface="+mn-lt"/>
                <a:hlinkClick r:id="rId3"/>
              </a:rPr>
              <a:t> </a:t>
            </a:r>
            <a:r>
              <a:rPr lang="en-US" dirty="0" err="1">
                <a:ea typeface="+mn-lt"/>
                <a:cs typeface="+mn-lt"/>
                <a:hlinkClick r:id="rId3"/>
              </a:rPr>
              <a:t>SQLem</a:t>
            </a:r>
            <a:r>
              <a:rPr lang="en-US" dirty="0">
                <a:ea typeface="+mn-lt"/>
                <a:cs typeface="+mn-lt"/>
                <a:hlinkClick r:id="rId3"/>
              </a:rPr>
              <a:t> </a:t>
            </a:r>
            <a:r>
              <a:rPr lang="en-US" dirty="0" err="1">
                <a:ea typeface="+mn-lt"/>
                <a:cs typeface="+mn-lt"/>
                <a:hlinkClick r:id="rId3"/>
              </a:rPr>
              <a:t>odczytywać</a:t>
            </a:r>
            <a:r>
              <a:rPr lang="en-US" dirty="0">
                <a:ea typeface="+mn-lt"/>
                <a:cs typeface="+mn-lt"/>
                <a:hlinkClick r:id="rId3"/>
              </a:rPr>
              <a:t> </a:t>
            </a:r>
            <a:r>
              <a:rPr lang="en-US" dirty="0" err="1">
                <a:ea typeface="+mn-lt"/>
                <a:cs typeface="+mn-lt"/>
                <a:hlinkClick r:id="rId3"/>
              </a:rPr>
              <a:t>pliki</a:t>
            </a:r>
            <a:r>
              <a:rPr lang="en-US" dirty="0">
                <a:ea typeface="+mn-lt"/>
                <a:cs typeface="+mn-lt"/>
                <a:hlinkClick r:id="rId3"/>
              </a:rPr>
              <a:t> csv, ale </a:t>
            </a:r>
            <a:r>
              <a:rPr lang="en-US" dirty="0" err="1">
                <a:ea typeface="+mn-lt"/>
                <a:cs typeface="+mn-lt"/>
                <a:hlinkClick r:id="rId3"/>
              </a:rPr>
              <a:t>na</a:t>
            </a:r>
            <a:r>
              <a:rPr lang="en-US" dirty="0">
                <a:ea typeface="+mn-lt"/>
                <a:cs typeface="+mn-lt"/>
                <a:hlinkClick r:id="rId3"/>
              </a:rPr>
              <a:t> </a:t>
            </a:r>
            <a:r>
              <a:rPr lang="en-US" dirty="0" err="1">
                <a:ea typeface="+mn-lt"/>
                <a:cs typeface="+mn-lt"/>
                <a:hlinkClick r:id="rId3"/>
              </a:rPr>
              <a:t>darmowej</a:t>
            </a:r>
            <a:r>
              <a:rPr lang="en-US" dirty="0">
                <a:ea typeface="+mn-lt"/>
                <a:cs typeface="+mn-lt"/>
                <a:hlinkClick r:id="rId3"/>
              </a:rPr>
              <a:t> </a:t>
            </a:r>
            <a:r>
              <a:rPr lang="en-US" dirty="0" err="1">
                <a:ea typeface="+mn-lt"/>
                <a:cs typeface="+mn-lt"/>
                <a:hlinkClick r:id="rId3"/>
              </a:rPr>
              <a:t>wersji</a:t>
            </a:r>
            <a:r>
              <a:rPr lang="en-US" dirty="0">
                <a:ea typeface="+mn-lt"/>
                <a:cs typeface="+mn-lt"/>
                <a:hlinkClick r:id="rId3"/>
              </a:rPr>
              <a:t> to </a:t>
            </a:r>
            <a:r>
              <a:rPr lang="en-US" dirty="0" err="1">
                <a:ea typeface="+mn-lt"/>
                <a:cs typeface="+mn-lt"/>
                <a:hlinkClick r:id="rId3"/>
              </a:rPr>
              <a:t>nie</a:t>
            </a:r>
            <a:r>
              <a:rPr lang="en-US" dirty="0">
                <a:ea typeface="+mn-lt"/>
                <a:cs typeface="+mn-lt"/>
                <a:hlinkClick r:id="rId3"/>
              </a:rPr>
              <a:t> jest dostępne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072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31E7-C47A-3CD3-D512-9CAA6434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CDN...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29E1C-F446-1EF6-11B1-25ACF9542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5861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Motyw pakietu Office</vt:lpstr>
      <vt:lpstr>Platforma Databricks</vt:lpstr>
      <vt:lpstr>Warunki zaliczenia</vt:lpstr>
      <vt:lpstr>Wprowadzenie do platformy Databricks</vt:lpstr>
      <vt:lpstr>Architektura Databricks</vt:lpstr>
      <vt:lpstr>Zakładamy konta</vt:lpstr>
      <vt:lpstr>Omówienie interfejsu</vt:lpstr>
      <vt:lpstr>Podstawy pracy z notebookami</vt:lpstr>
      <vt:lpstr>Notebook Podstawy pracy z notebookami</vt:lpstr>
      <vt:lpstr>Apache Spark</vt:lpstr>
      <vt:lpstr>PySpark</vt:lpstr>
      <vt:lpstr>Notebook Zadania pyspark</vt:lpstr>
      <vt:lpstr>Spark SQL</vt:lpstr>
      <vt:lpstr>CDN...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29</cp:revision>
  <dcterms:created xsi:type="dcterms:W3CDTF">2026-03-28T21:28:10Z</dcterms:created>
  <dcterms:modified xsi:type="dcterms:W3CDTF">2026-04-25T05:58:22Z</dcterms:modified>
</cp:coreProperties>
</file>